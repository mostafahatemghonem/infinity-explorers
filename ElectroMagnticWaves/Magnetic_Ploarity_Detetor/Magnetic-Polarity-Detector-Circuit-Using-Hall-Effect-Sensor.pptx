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Broadway" panose="04040905080B02020502" pitchFamily="82" charset="0"/>
      <p:regular r:id="rId14"/>
    </p:embeddedFont>
    <p:embeddedFont>
      <p:font typeface="Roboto" panose="020F0502020204030204" pitchFamily="2" charset="0"/>
      <p:regular r:id="rId15"/>
      <p:bold r:id="rId16"/>
    </p:embeddedFont>
    <p:embeddedFont>
      <p:font typeface="Roboto Mono Light" panose="020F0502020204030204" pitchFamily="49" charset="0"/>
      <p:regular r:id="rId17"/>
      <p:italic r:id="rId18"/>
    </p:embeddedFont>
    <p:embeddedFont>
      <p:font typeface="Roboto Mono Medium" panose="020F0502020204030204" pitchFamily="49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0D2B70-D09B-44AC-A521-F2017BFA0099}" v="11" dt="2025-11-30T15:06:15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>
      <p:cViewPr varScale="1">
        <p:scale>
          <a:sx n="65" d="100"/>
          <a:sy n="65" d="100"/>
        </p:scale>
        <p:origin x="274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5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9894D63-A9BE-44D1-A822-26884E6BAA2E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AB6C7B-4FEC-4EE6-A9B9-F8D50F4A6DD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42DC7C-2DD7-4001-B350-D1C4EE6191F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F994961-3D9C-4F9E-A93D-8A4F9E6D763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0586A-7052-8529-0DBD-A93CE7977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>
            <a:extLst>
              <a:ext uri="{FF2B5EF4-FFF2-40B4-BE49-F238E27FC236}">
                <a16:creationId xmlns:a16="http://schemas.microsoft.com/office/drawing/2014/main" id="{2E20EF07-AA21-0234-0838-BD26F007B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PlaceHolder 2">
            <a:extLst>
              <a:ext uri="{FF2B5EF4-FFF2-40B4-BE49-F238E27FC236}">
                <a16:creationId xmlns:a16="http://schemas.microsoft.com/office/drawing/2014/main" id="{1B620D2D-E989-F223-717B-0DFF1554BB2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>
            <a:extLst>
              <a:ext uri="{FF2B5EF4-FFF2-40B4-BE49-F238E27FC236}">
                <a16:creationId xmlns:a16="http://schemas.microsoft.com/office/drawing/2014/main" id="{CD5FFD5F-4946-8946-D88B-46D28B1CC0B5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F994961-3D9C-4F9E-A93D-8A4F9E6D763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65750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935984-EFF9-4E72-9439-43F68B42A5E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93E8E9-ECE1-4767-AE49-F354809BCFE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991647-4179-44B7-9C77-AC2F6F6BA85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C11C63-ACD4-4EFD-B17F-FC14FAA1035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F21B04-66D1-48DA-BE91-B0EDC83F12F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7E1CF0-DF45-41C0-B96C-F0CDC19FFA5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63BD25-BB6C-4CDB-8F6B-7CE68AF833D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6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1030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1212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7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1030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1212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8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1030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1212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9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1030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1212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10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1030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1212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1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1030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1212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2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1030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1212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3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1030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1212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4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1030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1212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5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1030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1212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3537360" y="2797821"/>
            <a:ext cx="755568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ts val="5550"/>
              </a:lnSpc>
              <a:tabLst>
                <a:tab pos="0" algn="l"/>
              </a:tabLst>
            </a:pPr>
            <a:r>
              <a:rPr lang="en-US" sz="4450" b="1" u="none" strike="noStrike" dirty="0">
                <a:solidFill>
                  <a:srgbClr val="DCFF50"/>
                </a:solidFill>
                <a:effectLst/>
                <a:uFillTx/>
                <a:latin typeface="Roboto Mono Medium"/>
                <a:ea typeface="Roboto Mono Medium"/>
              </a:rPr>
              <a:t>Magnetic Polarity Detector Circuit Using Hall Effect Sensor</a:t>
            </a:r>
            <a:endParaRPr lang="en-GB" sz="44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793800" y="3707842"/>
            <a:ext cx="7555680" cy="38485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2800" b="1" u="none" strike="noStrike" dirty="0">
                <a:solidFill>
                  <a:srgbClr val="92D050"/>
                </a:solidFill>
                <a:effectLst/>
                <a:uFillTx/>
                <a:latin typeface="Roboto Mono Medium"/>
                <a:ea typeface="Roboto Mono Medium"/>
              </a:rPr>
              <a:t>Supervised by: </a:t>
            </a:r>
          </a:p>
          <a:p>
            <a:r>
              <a:rPr lang="en-US" sz="2650" dirty="0">
                <a:solidFill>
                  <a:srgbClr val="FFFFFF"/>
                </a:solidFill>
                <a:latin typeface="Roboto Mono Medium"/>
                <a:ea typeface="Roboto Mono Medium"/>
              </a:rPr>
              <a:t>        </a:t>
            </a:r>
            <a:r>
              <a:rPr lang="en-US" sz="2650" b="0" u="none" strike="noStrike" dirty="0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DR</a:t>
            </a:r>
            <a:r>
              <a:rPr lang="en-US" sz="2650" dirty="0">
                <a:solidFill>
                  <a:srgbClr val="FFFFFF"/>
                </a:solidFill>
                <a:latin typeface="Roboto Mono Medium"/>
                <a:ea typeface="Roboto Mono Medium"/>
              </a:rPr>
              <a:t>.</a:t>
            </a:r>
            <a:r>
              <a:rPr lang="en-US" sz="2650" b="0" u="none" strike="noStrike" dirty="0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 Nour Eldin </a:t>
            </a:r>
            <a:endParaRPr lang="en-GB" sz="26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650" b="0" u="none" strike="noStrike" dirty="0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        Eng. Ehab Ahmed</a:t>
            </a:r>
            <a:endParaRPr lang="en-GB" sz="26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GB" sz="26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300"/>
              </a:lnSpc>
              <a:tabLst>
                <a:tab pos="0" algn="l"/>
              </a:tabLst>
            </a:pPr>
            <a:r>
              <a:rPr lang="en-US" sz="2800" b="1" dirty="0">
                <a:solidFill>
                  <a:srgbClr val="92D050"/>
                </a:solidFill>
                <a:latin typeface="Roboto Mono Medium"/>
                <a:ea typeface="Roboto Mono Medium"/>
              </a:rPr>
              <a:t>Team </a:t>
            </a:r>
            <a:r>
              <a:rPr lang="en-US" sz="2800" b="1" u="none" strike="noStrike" dirty="0">
                <a:solidFill>
                  <a:srgbClr val="92D050"/>
                </a:solidFill>
                <a:effectLst/>
                <a:uFillTx/>
                <a:latin typeface="Roboto Mono Medium"/>
                <a:ea typeface="Roboto Mono Medium"/>
              </a:rPr>
              <a:t>Members:</a:t>
            </a:r>
            <a:endParaRPr lang="en-US" sz="800" b="1" u="none" strike="noStrike" dirty="0">
              <a:solidFill>
                <a:srgbClr val="92D050"/>
              </a:solidFill>
              <a:effectLst/>
              <a:uFillTx/>
              <a:latin typeface="Roboto Mono Medium"/>
              <a:ea typeface="Roboto Mono Medium"/>
            </a:endParaRPr>
          </a:p>
          <a:p>
            <a:pPr defTabSz="914400">
              <a:lnSpc>
                <a:spcPts val="3300"/>
              </a:lnSpc>
              <a:tabLst>
                <a:tab pos="0" algn="l"/>
              </a:tabLst>
            </a:pPr>
            <a:r>
              <a:rPr lang="en-US" sz="2650" b="0" u="none" strike="noStrike" dirty="0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   Mostafa Hatem</a:t>
            </a:r>
          </a:p>
          <a:p>
            <a:pPr defTabSz="914400">
              <a:lnSpc>
                <a:spcPts val="3300"/>
              </a:lnSpc>
              <a:tabLst>
                <a:tab pos="0" algn="l"/>
              </a:tabLst>
            </a:pPr>
            <a:r>
              <a:rPr lang="en-US" sz="2650" b="0" u="none" strike="noStrike" dirty="0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   Yousef Abdallah</a:t>
            </a:r>
          </a:p>
          <a:p>
            <a:pPr defTabSz="914400">
              <a:lnSpc>
                <a:spcPts val="3300"/>
              </a:lnSpc>
              <a:tabLst>
                <a:tab pos="0" algn="l"/>
              </a:tabLst>
            </a:pPr>
            <a:r>
              <a:rPr lang="en-US" sz="2650" b="0" u="none" strike="noStrike" dirty="0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   Mriam Mansour</a:t>
            </a:r>
            <a:endParaRPr lang="en-US" sz="2650" dirty="0">
              <a:solidFill>
                <a:srgbClr val="FFFFFF"/>
              </a:solidFill>
              <a:latin typeface="Roboto Mono Medium"/>
              <a:ea typeface="Roboto Mono Medium"/>
            </a:endParaRPr>
          </a:p>
          <a:p>
            <a:pPr defTabSz="914400">
              <a:lnSpc>
                <a:spcPts val="3300"/>
              </a:lnSpc>
              <a:tabLst>
                <a:tab pos="0" algn="l"/>
              </a:tabLst>
            </a:pPr>
            <a:r>
              <a:rPr lang="en-US" sz="2650" b="0" u="none" strike="noStrike" dirty="0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   Menna Alrahman </a:t>
            </a:r>
            <a:r>
              <a:rPr lang="en-US" sz="2650" dirty="0">
                <a:solidFill>
                  <a:srgbClr val="FFFFFF"/>
                </a:solidFill>
                <a:latin typeface="Roboto Mono Medium"/>
                <a:ea typeface="Roboto Mono Medium"/>
              </a:rPr>
              <a:t>M</a:t>
            </a:r>
            <a:r>
              <a:rPr lang="en-US" sz="2650" b="0" u="none" strike="noStrike" dirty="0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ohamed</a:t>
            </a:r>
            <a:endParaRPr lang="en-GB" sz="26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C339A1-E0BC-A6E0-DDB5-72FD30C68A08}"/>
              </a:ext>
            </a:extLst>
          </p:cNvPr>
          <p:cNvSpPr/>
          <p:nvPr/>
        </p:nvSpPr>
        <p:spPr>
          <a:xfrm>
            <a:off x="12778154" y="7556360"/>
            <a:ext cx="1852246" cy="673240"/>
          </a:xfrm>
          <a:prstGeom prst="rect">
            <a:avLst/>
          </a:prstGeom>
          <a:solidFill>
            <a:srgbClr val="2121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/>
          <p:nvPr/>
        </p:nvPicPr>
        <p:blipFill>
          <a:blip r:embed="rId3"/>
          <a:stretch/>
        </p:blipFill>
        <p:spPr>
          <a:xfrm>
            <a:off x="8874370" y="339969"/>
            <a:ext cx="5756030" cy="7573108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77778E-6 L -0.20269 -0.28144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35" y="-140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6" grpId="1"/>
      <p:bldP spid="5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1395609" y="569520"/>
            <a:ext cx="10902461" cy="12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ts val="5000"/>
              </a:lnSpc>
              <a:tabLst>
                <a:tab pos="0" algn="l"/>
              </a:tabLst>
            </a:pPr>
            <a:r>
              <a:rPr lang="en-US" sz="4400" u="none" strike="noStrike" dirty="0">
                <a:solidFill>
                  <a:srgbClr val="DCFF50"/>
                </a:solidFill>
                <a:effectLst/>
                <a:uFillTx/>
                <a:latin typeface="Roboto Mono Medium"/>
                <a:ea typeface="Roboto Mono Medium"/>
              </a:rPr>
              <a:t>Introduction &amp; The Hall Effect</a:t>
            </a:r>
            <a:endParaRPr lang="en-GB" sz="44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715320" y="1745100"/>
            <a:ext cx="907488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4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What is a Magnetic Polarity Detector?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715320" y="3483804"/>
            <a:ext cx="613152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4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The Hall Effect Principle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842642" y="4092288"/>
            <a:ext cx="13199040" cy="65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551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Discovered by Edwin Hall in 1879. When current flows through a conductor in a perpendicular magnetic field, charge carriers are deflected, creating a voltage difference (Hall voltage) across the conductor. The polarity of this voltage depends on the magnetic field direction.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715320" y="5289564"/>
            <a:ext cx="408744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4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Key Applications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715320" y="6056640"/>
            <a:ext cx="13199040" cy="32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55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Automotive position and speed sensing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715320" y="6455160"/>
            <a:ext cx="13199040" cy="32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55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Proximity switches and door sensors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715320" y="6853680"/>
            <a:ext cx="13199040" cy="32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55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Current measurement devices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715320" y="7252200"/>
            <a:ext cx="13199040" cy="32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55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Industrial automation and robotics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12"/>
          <p:cNvSpPr/>
          <p:nvPr/>
        </p:nvSpPr>
        <p:spPr>
          <a:xfrm>
            <a:off x="12699720" y="7689600"/>
            <a:ext cx="1876320" cy="468360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13BAB5-0D99-56EF-1D7B-3F27ABE7ACF8}"/>
              </a:ext>
            </a:extLst>
          </p:cNvPr>
          <p:cNvSpPr txBox="1"/>
          <p:nvPr/>
        </p:nvSpPr>
        <p:spPr>
          <a:xfrm>
            <a:off x="715320" y="2366100"/>
            <a:ext cx="1319904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E5E0DF"/>
                </a:solidFill>
                <a:latin typeface="Roboto"/>
                <a:ea typeface="Roboto"/>
              </a:rPr>
              <a:t>An electronic circuit that identifies whether a magnetic field's north or south pole is present near the sensor using the Hall effect principle.</a:t>
            </a:r>
            <a:endParaRPr lang="en-GB" sz="2400" dirty="0">
              <a:solidFill>
                <a:srgbClr val="000000"/>
              </a:solidFill>
              <a:latin typeface="Arial"/>
            </a:endParaRPr>
          </a:p>
          <a:p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2" grpId="0"/>
      <p:bldP spid="63" grpId="0"/>
      <p:bldP spid="64" grpId="0"/>
      <p:bldP spid="65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301720" y="720000"/>
            <a:ext cx="3877920" cy="43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5550"/>
              </a:lnSpc>
              <a:tabLst>
                <a:tab pos="0" algn="l"/>
              </a:tabLst>
            </a:pPr>
            <a:r>
              <a:rPr lang="en-US" sz="4450" b="1" u="none" strike="noStrike" dirty="0">
                <a:solidFill>
                  <a:srgbClr val="DCFF50"/>
                </a:solidFill>
                <a:effectLst/>
                <a:uFillTx/>
                <a:latin typeface="Roboto Mono Medium"/>
                <a:ea typeface="Roboto Mono Medium"/>
              </a:rPr>
              <a:t>Components Required</a:t>
            </a:r>
            <a:endParaRPr lang="en-GB" sz="44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1030860" y="1569960"/>
            <a:ext cx="12419640" cy="5939640"/>
          </a:xfrm>
          <a:prstGeom prst="roundRect">
            <a:avLst>
              <a:gd name="adj" fmla="val 877"/>
            </a:avLst>
          </a:prstGeom>
          <a:solidFill>
            <a:srgbClr val="14141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 2"/>
          <p:cNvSpPr/>
          <p:nvPr/>
        </p:nvSpPr>
        <p:spPr>
          <a:xfrm>
            <a:off x="1260000" y="2157120"/>
            <a:ext cx="12059640" cy="48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 anchorCtr="1">
            <a:noAutofit/>
          </a:bodyPr>
          <a:lstStyle/>
          <a:p>
            <a:pPr algn="ctr" defTabSz="914400">
              <a:lnSpc>
                <a:spcPts val="275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Essential Components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1260000" y="2824560"/>
            <a:ext cx="10179000" cy="4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Hall Effect Sensor 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1260000" y="3447164"/>
            <a:ext cx="10179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Power Supply - 9V DC regulated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1260000" y="4147879"/>
            <a:ext cx="10179000" cy="65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Resistors - 10kΩ (pull-up),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260000" y="4769476"/>
            <a:ext cx="10434600" cy="49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LEDs - Red and Yellow for polarity indication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1260000" y="5390722"/>
            <a:ext cx="10179000" cy="4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lvl="0" indent="-343080">
              <a:lnSpc>
                <a:spcPts val="2849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7805 Voltage Regulator:</a:t>
            </a:r>
            <a:endParaRPr lang="en-GB" dirty="0">
              <a:solidFill>
                <a:srgbClr val="000000"/>
              </a:solidFill>
            </a:endParaRPr>
          </a:p>
          <a:p>
            <a:pPr marL="343080" indent="-343080" defTabSz="914400">
              <a:lnSpc>
                <a:spcPts val="2849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Symbol" charset="2"/>
              <a:buChar char=""/>
            </a:pP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Roboto"/>
              <a:ea typeface="Roboto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7655400" y="3600000"/>
            <a:ext cx="59536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849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4"/>
          <p:cNvSpPr/>
          <p:nvPr/>
        </p:nvSpPr>
        <p:spPr>
          <a:xfrm>
            <a:off x="7655400" y="4799520"/>
            <a:ext cx="59536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849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16"/>
          <p:cNvSpPr/>
          <p:nvPr/>
        </p:nvSpPr>
        <p:spPr>
          <a:xfrm>
            <a:off x="12699720" y="7689600"/>
            <a:ext cx="1876320" cy="468360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BC759E3D-3649-2045-B081-5DF7350C6D22}"/>
              </a:ext>
            </a:extLst>
          </p:cNvPr>
          <p:cNvSpPr/>
          <p:nvPr/>
        </p:nvSpPr>
        <p:spPr>
          <a:xfrm>
            <a:off x="1260000" y="6013048"/>
            <a:ext cx="10179000" cy="4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lvl="0" indent="-343080">
              <a:lnSpc>
                <a:spcPts val="2849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</a:rPr>
              <a:t>Bread board</a:t>
            </a:r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F2971EC2-66FB-0207-C627-EEEC38A22FB5}"/>
              </a:ext>
            </a:extLst>
          </p:cNvPr>
          <p:cNvSpPr/>
          <p:nvPr/>
        </p:nvSpPr>
        <p:spPr>
          <a:xfrm>
            <a:off x="1260000" y="6635374"/>
            <a:ext cx="10179000" cy="4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lvl="0" indent="-343080">
              <a:lnSpc>
                <a:spcPts val="2849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</a:rPr>
              <a:t>Jumper Wires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/>
      <p:bldP spid="73" grpId="0"/>
      <p:bldP spid="74" grpId="0"/>
      <p:bldP spid="75" grpId="0"/>
      <p:bldP spid="76" grpId="0"/>
      <p:bldP spid="77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0747A-71DD-052C-0CF9-E16260F57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1">
            <a:extLst>
              <a:ext uri="{FF2B5EF4-FFF2-40B4-BE49-F238E27FC236}">
                <a16:creationId xmlns:a16="http://schemas.microsoft.com/office/drawing/2014/main" id="{DAE5AF2D-7CA6-99FA-BB82-99917C19099C}"/>
              </a:ext>
            </a:extLst>
          </p:cNvPr>
          <p:cNvSpPr/>
          <p:nvPr/>
        </p:nvSpPr>
        <p:spPr>
          <a:xfrm>
            <a:off x="1030860" y="1569960"/>
            <a:ext cx="12419640" cy="5939640"/>
          </a:xfrm>
          <a:prstGeom prst="roundRect">
            <a:avLst>
              <a:gd name="adj" fmla="val 877"/>
            </a:avLst>
          </a:prstGeom>
          <a:solidFill>
            <a:srgbClr val="14141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B3982344-E89C-3FBE-2832-66849B453401}"/>
              </a:ext>
            </a:extLst>
          </p:cNvPr>
          <p:cNvSpPr/>
          <p:nvPr/>
        </p:nvSpPr>
        <p:spPr>
          <a:xfrm>
            <a:off x="1260000" y="2824560"/>
            <a:ext cx="3147877" cy="4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Hall Effect Sensor 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>
            <a:extLst>
              <a:ext uri="{FF2B5EF4-FFF2-40B4-BE49-F238E27FC236}">
                <a16:creationId xmlns:a16="http://schemas.microsoft.com/office/drawing/2014/main" id="{6EC3227C-6559-4D6F-9324-9F554B20557F}"/>
              </a:ext>
            </a:extLst>
          </p:cNvPr>
          <p:cNvSpPr/>
          <p:nvPr/>
        </p:nvSpPr>
        <p:spPr>
          <a:xfrm>
            <a:off x="7655400" y="3600000"/>
            <a:ext cx="59536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849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4">
            <a:extLst>
              <a:ext uri="{FF2B5EF4-FFF2-40B4-BE49-F238E27FC236}">
                <a16:creationId xmlns:a16="http://schemas.microsoft.com/office/drawing/2014/main" id="{9D680AE2-6844-E850-8D89-102978666656}"/>
              </a:ext>
            </a:extLst>
          </p:cNvPr>
          <p:cNvSpPr/>
          <p:nvPr/>
        </p:nvSpPr>
        <p:spPr>
          <a:xfrm>
            <a:off x="7655400" y="4799520"/>
            <a:ext cx="59536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849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16">
            <a:extLst>
              <a:ext uri="{FF2B5EF4-FFF2-40B4-BE49-F238E27FC236}">
                <a16:creationId xmlns:a16="http://schemas.microsoft.com/office/drawing/2014/main" id="{D2DA0E71-D92B-A702-BBEB-B6892D821475}"/>
              </a:ext>
            </a:extLst>
          </p:cNvPr>
          <p:cNvSpPr/>
          <p:nvPr/>
        </p:nvSpPr>
        <p:spPr>
          <a:xfrm>
            <a:off x="12699720" y="7689600"/>
            <a:ext cx="1876320" cy="468360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9BC40B4E-1DAC-69A8-4563-2D8D4B1BE339}"/>
              </a:ext>
            </a:extLst>
          </p:cNvPr>
          <p:cNvSpPr/>
          <p:nvPr/>
        </p:nvSpPr>
        <p:spPr>
          <a:xfrm>
            <a:off x="2945608" y="224820"/>
            <a:ext cx="9161214" cy="132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ts val="5000"/>
              </a:lnSpc>
              <a:tabLst>
                <a:tab pos="0" algn="l"/>
              </a:tabLst>
            </a:pPr>
            <a:r>
              <a:rPr lang="en-US" sz="4400" u="none" strike="noStrike" dirty="0">
                <a:solidFill>
                  <a:srgbClr val="DCFF50"/>
                </a:solidFill>
                <a:effectLst/>
                <a:uFillTx/>
                <a:latin typeface="Roboto Mono Medium"/>
                <a:ea typeface="Roboto Mono Medium"/>
              </a:rPr>
              <a:t>Hall Effect Sensor</a:t>
            </a:r>
          </a:p>
          <a:p>
            <a:pPr algn="ctr">
              <a:lnSpc>
                <a:spcPts val="5000"/>
              </a:lnSpc>
              <a:tabLst>
                <a:tab pos="0" algn="l"/>
              </a:tabLst>
            </a:pPr>
            <a:r>
              <a:rPr lang="en-US" sz="4400" dirty="0">
                <a:solidFill>
                  <a:srgbClr val="DCFF50"/>
                </a:solidFill>
                <a:latin typeface="Roboto Mono Medium"/>
                <a:ea typeface="Roboto Mono Medium"/>
              </a:rPr>
              <a:t>Internal Equivalent Circuit</a:t>
            </a:r>
            <a:endParaRPr lang="en-GB" sz="4400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5000"/>
              </a:lnSpc>
              <a:tabLst>
                <a:tab pos="0" algn="l"/>
              </a:tabLst>
            </a:pPr>
            <a:endParaRPr lang="en-GB" sz="44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A1137D-A45A-664C-5157-2B40C8817868}"/>
              </a:ext>
            </a:extLst>
          </p:cNvPr>
          <p:cNvSpPr/>
          <p:nvPr/>
        </p:nvSpPr>
        <p:spPr>
          <a:xfrm>
            <a:off x="1494465" y="2181240"/>
            <a:ext cx="8235692" cy="4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</a:rPr>
              <a:t>Hall Element: converts magnetic field into a small voltage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90F36A0-BCA4-6D05-00F7-83FABFF12C94}"/>
              </a:ext>
            </a:extLst>
          </p:cNvPr>
          <p:cNvSpPr/>
          <p:nvPr/>
        </p:nvSpPr>
        <p:spPr>
          <a:xfrm>
            <a:off x="1494464" y="3071700"/>
            <a:ext cx="8728061" cy="4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</a:rPr>
              <a:t>Amplifier + Schmitt Trigger: amplifies and stabilizes the signal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7C335F3-1AD6-B201-3E18-B1CA4F12F725}"/>
              </a:ext>
            </a:extLst>
          </p:cNvPr>
          <p:cNvSpPr/>
          <p:nvPr/>
        </p:nvSpPr>
        <p:spPr>
          <a:xfrm>
            <a:off x="1494464" y="3962160"/>
            <a:ext cx="8728061" cy="4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</a:rPr>
              <a:t>NPN Open-Collector Transistor: controls the output pin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662FAB-1CEE-6127-BC21-B26175208C8E}"/>
              </a:ext>
            </a:extLst>
          </p:cNvPr>
          <p:cNvSpPr/>
          <p:nvPr/>
        </p:nvSpPr>
        <p:spPr>
          <a:xfrm>
            <a:off x="8850923" y="5230228"/>
            <a:ext cx="4290647" cy="1915020"/>
          </a:xfrm>
          <a:prstGeom prst="rect">
            <a:avLst/>
          </a:prstGeom>
          <a:solidFill>
            <a:srgbClr val="212121"/>
          </a:solidFill>
          <a:ln>
            <a:solidFill>
              <a:srgbClr val="66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66FF66"/>
                </a:solidFill>
                <a:latin typeface="Broadway" panose="04040905080B02020502" pitchFamily="82" charset="0"/>
              </a:rPr>
              <a:t>Vcc</a:t>
            </a:r>
          </a:p>
          <a:p>
            <a:r>
              <a:rPr lang="en-US" dirty="0">
                <a:solidFill>
                  <a:srgbClr val="66FF66"/>
                </a:solidFill>
                <a:latin typeface="Broadway" panose="04040905080B02020502" pitchFamily="82" charset="0"/>
              </a:rPr>
              <a:t> |</a:t>
            </a:r>
          </a:p>
          <a:p>
            <a:r>
              <a:rPr lang="en-US" dirty="0">
                <a:solidFill>
                  <a:srgbClr val="66FF66"/>
                </a:solidFill>
                <a:latin typeface="Broadway" panose="04040905080B02020502" pitchFamily="82" charset="0"/>
              </a:rPr>
              <a:t>Pull-up Resistor</a:t>
            </a:r>
          </a:p>
          <a:p>
            <a:r>
              <a:rPr lang="en-US" dirty="0">
                <a:solidFill>
                  <a:srgbClr val="66FF66"/>
                </a:solidFill>
                <a:latin typeface="Broadway" panose="04040905080B02020502" pitchFamily="82" charset="0"/>
              </a:rPr>
              <a:t> |</a:t>
            </a:r>
          </a:p>
          <a:p>
            <a:r>
              <a:rPr lang="en-US" dirty="0">
                <a:solidFill>
                  <a:srgbClr val="66FF66"/>
                </a:solidFill>
                <a:latin typeface="Broadway" panose="04040905080B02020502" pitchFamily="82" charset="0"/>
              </a:rPr>
              <a:t>Output ---- NPN Transistor ---- GND</a:t>
            </a: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02F38875-B687-C9D8-1CDD-0D80227D4225}"/>
              </a:ext>
            </a:extLst>
          </p:cNvPr>
          <p:cNvSpPr/>
          <p:nvPr/>
        </p:nvSpPr>
        <p:spPr>
          <a:xfrm>
            <a:off x="1494464" y="4703114"/>
            <a:ext cx="6031751" cy="19565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>
              <a:lnSpc>
                <a:spcPct val="15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</a:rPr>
              <a:t>Pull-Up Resistor</a:t>
            </a:r>
          </a:p>
          <a:p>
            <a:pPr>
              <a:lnSpc>
                <a:spcPct val="150000"/>
              </a:lnSpc>
              <a:buClr>
                <a:srgbClr val="FFFFFF"/>
              </a:buClr>
            </a:pP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</a:rPr>
              <a:t>         Required for open-collector output</a:t>
            </a:r>
          </a:p>
          <a:p>
            <a:pPr>
              <a:lnSpc>
                <a:spcPct val="150000"/>
              </a:lnSpc>
              <a:buClr>
                <a:srgbClr val="FFFFFF"/>
              </a:buClr>
            </a:pP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</a:rPr>
              <a:t>         Sets HIGH level when transistor is OFF</a:t>
            </a:r>
          </a:p>
        </p:txBody>
      </p:sp>
    </p:spTree>
    <p:extLst>
      <p:ext uri="{BB962C8B-B14F-4D97-AF65-F5344CB8AC3E}">
        <p14:creationId xmlns:p14="http://schemas.microsoft.com/office/powerpoint/2010/main" val="3888108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89583E-6 -9.87654E-7 L 0.30632 -0.2854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10" y="-142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2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2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75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250"/>
                            </p:stCondLst>
                            <p:childTnLst>
                              <p:par>
                                <p:cTn id="3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3" grpId="1"/>
      <p:bldP spid="5" grpId="0"/>
      <p:bldP spid="5" grpId="1"/>
      <p:bldP spid="9" grpId="0"/>
      <p:bldP spid="10" grpId="0"/>
      <p:bldP spid="11" grpId="0"/>
      <p:bldP spid="12" grpId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3912839" y="2983680"/>
            <a:ext cx="680400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ts val="5550"/>
              </a:lnSpc>
              <a:tabLst>
                <a:tab pos="0" algn="l"/>
              </a:tabLst>
            </a:pPr>
            <a:r>
              <a:rPr lang="en-US" sz="4450" b="0" u="none" strike="noStrike" dirty="0">
                <a:solidFill>
                  <a:srgbClr val="DCFF50"/>
                </a:solidFill>
                <a:effectLst/>
                <a:uFillTx/>
                <a:latin typeface="Roboto Mono Medium"/>
                <a:ea typeface="Roboto Mono Medium"/>
              </a:rPr>
              <a:t>Basic Circuit Design</a:t>
            </a:r>
            <a:endParaRPr lang="en-GB" sz="4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793800" y="2195640"/>
            <a:ext cx="4082040" cy="4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3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Circuit Connections: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793800" y="2961000"/>
            <a:ext cx="130420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Hall sensor VCC → +5V power supply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793800" y="3403440"/>
            <a:ext cx="130420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Hall sensor GND → Ground (0V)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793800" y="3845520"/>
            <a:ext cx="130420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Hall sensor Output → Indicator circuit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793800" y="4548600"/>
            <a:ext cx="3401640" cy="4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3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Output Behavior: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793800" y="5313960"/>
            <a:ext cx="130420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1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North pole detected</a:t>
            </a: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:  → Yellow LED OFF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793800" y="5756040"/>
            <a:ext cx="130420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1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South pole detected</a:t>
            </a: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:  → Red LED OFF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793800" y="6198480"/>
            <a:ext cx="130420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1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No magnetic field</a:t>
            </a: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:   → Both LEDs ON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793800" y="6816600"/>
            <a:ext cx="13042080" cy="72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849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LED Indicator Circuit:</a:t>
            </a: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  Use current-limiting resistors (220–10K Ω) in series with each LED to control brightness and protect the LED.  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11"/>
          <p:cNvSpPr/>
          <p:nvPr/>
        </p:nvSpPr>
        <p:spPr>
          <a:xfrm>
            <a:off x="12699720" y="7689600"/>
            <a:ext cx="1876320" cy="468360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" name="Picture 4" descr="Magnetic Polarity Detector Circuit Diagram">
            <a:extLst>
              <a:ext uri="{FF2B5EF4-FFF2-40B4-BE49-F238E27FC236}">
                <a16:creationId xmlns:a16="http://schemas.microsoft.com/office/drawing/2014/main" id="{EE3C2854-986A-C865-216C-19D1249CA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367" y="2104200"/>
            <a:ext cx="5626945" cy="438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62963E-6 L 0 -0.25753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8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64198E-6 L 0.26042 -0.0011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1" y="-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9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1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15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1" grpId="1"/>
      <p:bldP spid="82" grpId="0"/>
      <p:bldP spid="83" grpId="0" build="p"/>
      <p:bldP spid="84" grpId="0"/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4422960" y="1141560"/>
            <a:ext cx="5783400" cy="7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5550"/>
              </a:lnSpc>
              <a:tabLst>
                <a:tab pos="0" algn="l"/>
              </a:tabLst>
            </a:pPr>
            <a:r>
              <a:rPr lang="en-US" sz="4450" b="1" u="none" strike="noStrike" dirty="0">
                <a:solidFill>
                  <a:srgbClr val="DCFF50"/>
                </a:solidFill>
                <a:effectLst/>
                <a:uFillTx/>
                <a:latin typeface="Roboto Mono Medium"/>
                <a:ea typeface="Roboto Mono Medium"/>
              </a:rPr>
              <a:t>Working Principle</a:t>
            </a:r>
            <a:endParaRPr lang="en-GB" sz="44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793800" y="2304000"/>
            <a:ext cx="226080" cy="28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 dirty="0">
                <a:solidFill>
                  <a:srgbClr val="E5E0DF"/>
                </a:solidFill>
                <a:effectLst/>
                <a:uFillTx/>
                <a:latin typeface="Roboto Mono Light"/>
                <a:ea typeface="Roboto Mono Light"/>
              </a:rPr>
              <a:t>01</a:t>
            </a:r>
            <a:endParaRPr lang="en-GB" sz="1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793800" y="2659320"/>
            <a:ext cx="6407280" cy="29880"/>
          </a:xfrm>
          <a:prstGeom prst="rect">
            <a:avLst/>
          </a:prstGeom>
          <a:solidFill>
            <a:srgbClr val="DCFF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0" rIns="90000" bIns="-144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 3"/>
          <p:cNvSpPr/>
          <p:nvPr/>
        </p:nvSpPr>
        <p:spPr>
          <a:xfrm>
            <a:off x="793800" y="2833560"/>
            <a:ext cx="4420800" cy="35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Magnetic Field Interaction</a:t>
            </a:r>
            <a:endParaRPr lang="en-GB" sz="2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793800" y="3323880"/>
            <a:ext cx="6407280" cy="72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849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Magnet approaches the Hall sensor and magnetic flux lines pass through the sensor element.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7428600" y="2304000"/>
            <a:ext cx="226080" cy="28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 dirty="0">
                <a:solidFill>
                  <a:srgbClr val="E5E0DF"/>
                </a:solidFill>
                <a:effectLst/>
                <a:uFillTx/>
                <a:latin typeface="Roboto Mono Light"/>
                <a:ea typeface="Roboto Mono Light"/>
              </a:rPr>
              <a:t>02</a:t>
            </a:r>
            <a:endParaRPr lang="en-GB" sz="1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6"/>
          <p:cNvSpPr/>
          <p:nvPr/>
        </p:nvSpPr>
        <p:spPr>
          <a:xfrm>
            <a:off x="7428600" y="2659320"/>
            <a:ext cx="6407280" cy="29880"/>
          </a:xfrm>
          <a:prstGeom prst="rect">
            <a:avLst/>
          </a:prstGeom>
          <a:solidFill>
            <a:srgbClr val="DCFF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0" rIns="90000" bIns="-144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 7"/>
          <p:cNvSpPr/>
          <p:nvPr/>
        </p:nvSpPr>
        <p:spPr>
          <a:xfrm>
            <a:off x="7428600" y="2833560"/>
            <a:ext cx="3910320" cy="35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Hall Voltage Generation</a:t>
            </a:r>
            <a:endParaRPr lang="en-GB" sz="2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7428600" y="3323880"/>
            <a:ext cx="640728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849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Current flows through the sensor, Lorentz force deflects charge carriers, and voltage appears across the sensor proportional to field strength and polarity.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793800" y="4809240"/>
            <a:ext cx="226080" cy="28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 dirty="0">
                <a:solidFill>
                  <a:srgbClr val="E5E0DF"/>
                </a:solidFill>
                <a:effectLst/>
                <a:uFillTx/>
                <a:latin typeface="Roboto Mono Light"/>
                <a:ea typeface="Roboto Mono Light"/>
              </a:rPr>
              <a:t>03</a:t>
            </a:r>
            <a:endParaRPr lang="en-GB" sz="1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0"/>
          <p:cNvSpPr/>
          <p:nvPr/>
        </p:nvSpPr>
        <p:spPr>
          <a:xfrm>
            <a:off x="793800" y="5164560"/>
            <a:ext cx="6407280" cy="29880"/>
          </a:xfrm>
          <a:prstGeom prst="rect">
            <a:avLst/>
          </a:prstGeom>
          <a:solidFill>
            <a:srgbClr val="DCFF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0" rIns="90000" bIns="-144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793800" y="5338800"/>
            <a:ext cx="2890080" cy="35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Signal Processing</a:t>
            </a:r>
            <a:endParaRPr lang="en-GB" sz="2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793800" y="5829120"/>
            <a:ext cx="640728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849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Positive voltage shift → North pole detected. Negative voltage shift → South pole detected. Voltage magnitude indicates magnetic field strength.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7428600" y="4809240"/>
            <a:ext cx="226080" cy="28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 dirty="0">
                <a:solidFill>
                  <a:srgbClr val="E5E0DF"/>
                </a:solidFill>
                <a:effectLst/>
                <a:uFillTx/>
                <a:latin typeface="Roboto Mono Light"/>
                <a:ea typeface="Roboto Mono Light"/>
              </a:rPr>
              <a:t>04</a:t>
            </a:r>
            <a:endParaRPr lang="en-GB" sz="1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4"/>
          <p:cNvSpPr/>
          <p:nvPr/>
        </p:nvSpPr>
        <p:spPr>
          <a:xfrm>
            <a:off x="7428600" y="5164560"/>
            <a:ext cx="6407280" cy="29880"/>
          </a:xfrm>
          <a:prstGeom prst="rect">
            <a:avLst/>
          </a:prstGeom>
          <a:solidFill>
            <a:srgbClr val="DCFF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0" rIns="90000" bIns="-144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7428600" y="5338800"/>
            <a:ext cx="2890080" cy="35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Output Indication</a:t>
            </a:r>
            <a:endParaRPr lang="en-GB" sz="2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6"/>
          <p:cNvSpPr/>
          <p:nvPr/>
        </p:nvSpPr>
        <p:spPr>
          <a:xfrm>
            <a:off x="7428600" y="5829120"/>
            <a:ext cx="6407280" cy="72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849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The digital Hall sensor switches its output LOW when a magnetic pole is detected, turning ON the corresponding LED through a current-limiting resistor. 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8"/>
          <p:cNvSpPr/>
          <p:nvPr/>
        </p:nvSpPr>
        <p:spPr>
          <a:xfrm>
            <a:off x="12699720" y="7689600"/>
            <a:ext cx="1876320" cy="468360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3" grpId="0"/>
      <p:bldP spid="94" grpId="0" animBg="1"/>
      <p:bldP spid="95" grpId="0"/>
      <p:bldP spid="96" grpId="0"/>
      <p:bldP spid="97" grpId="0"/>
      <p:bldP spid="98" grpId="0" animBg="1"/>
      <p:bldP spid="99" grpId="0"/>
      <p:bldP spid="100" grpId="0"/>
      <p:bldP spid="101" grpId="0"/>
      <p:bldP spid="102" grpId="0" animBg="1"/>
      <p:bldP spid="103" grpId="0"/>
      <p:bldP spid="104" grpId="0"/>
      <p:bldP spid="105" grpId="0"/>
      <p:bldP spid="106" grpId="0" animBg="1"/>
      <p:bldP spid="107" grpId="0"/>
      <p:bldP spid="10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1875099" y="470160"/>
            <a:ext cx="11065397" cy="106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ts val="415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DCFF50"/>
                </a:solidFill>
                <a:effectLst/>
                <a:uFillTx/>
                <a:latin typeface="Roboto Mono Medium"/>
                <a:ea typeface="Roboto Mono Medium"/>
              </a:rPr>
              <a:t>Design Considerations &amp; PCB Layout</a:t>
            </a:r>
            <a:endParaRPr lang="en-GB" sz="4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96880" y="1425545"/>
            <a:ext cx="25574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5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Power Supply: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596880" y="2002678"/>
            <a:ext cx="134359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100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Stable 9V regulated power supply recommended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596379" y="2427730"/>
            <a:ext cx="134359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100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Separate analog and digital grounds if using microcontroller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596379" y="3005611"/>
            <a:ext cx="260856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5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Sensor Placement: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596379" y="3551492"/>
            <a:ext cx="134359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100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Position away from high-current traces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596379" y="3991127"/>
            <a:ext cx="134359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100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Ensure proper orientation for field detection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596379" y="4423533"/>
            <a:ext cx="134359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100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Allow space for magnet approach (typically 5-20mm gap)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596379" y="4916535"/>
            <a:ext cx="25574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5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Noise Reduction:</a:t>
            </a:r>
            <a:endParaRPr lang="en-GB" sz="3200" b="0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596379" y="5403718"/>
            <a:ext cx="134359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100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Keep sensor leads short (&lt;10cm)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595786" y="5806385"/>
            <a:ext cx="134359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100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Use ground plane for shielding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597307" y="6225581"/>
            <a:ext cx="134359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100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Add RC filter if needed (100Ω + 1µF)</a:t>
            </a:r>
            <a:endParaRPr lang="en-GB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595786" y="6804055"/>
            <a:ext cx="337572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5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Sensitivity Adjustment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16"/>
          <p:cNvSpPr/>
          <p:nvPr/>
        </p:nvSpPr>
        <p:spPr>
          <a:xfrm>
            <a:off x="12699720" y="7689600"/>
            <a:ext cx="1876320" cy="468360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23C584-B9BF-9002-4FE4-C452736649BC}"/>
              </a:ext>
            </a:extLst>
          </p:cNvPr>
          <p:cNvSpPr txBox="1"/>
          <p:nvPr/>
        </p:nvSpPr>
        <p:spPr>
          <a:xfrm>
            <a:off x="595786" y="7205442"/>
            <a:ext cx="136583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E5E0DF"/>
                </a:solidFill>
                <a:latin typeface="Roboto"/>
                <a:ea typeface="Roboto"/>
              </a:rPr>
              <a:t>Add a potentiometer in the comparator reference voltage circuit to adjust detection thresholds for different magnet strengths.</a:t>
            </a:r>
            <a:endParaRPr lang="en-GB" sz="2400" dirty="0">
              <a:solidFill>
                <a:srgbClr val="000000"/>
              </a:solidFill>
              <a:latin typeface="Arial"/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1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2753640" y="439920"/>
            <a:ext cx="9122040" cy="99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ts val="39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DCFF50"/>
                </a:solidFill>
                <a:effectLst/>
                <a:uFillTx/>
                <a:latin typeface="Roboto Mono Medium"/>
                <a:ea typeface="Roboto Mono Medium"/>
              </a:rPr>
              <a:t>Calibration</a:t>
            </a:r>
            <a:r>
              <a:rPr lang="en-US" sz="4000" b="1" dirty="0">
                <a:solidFill>
                  <a:srgbClr val="DCFF50"/>
                </a:solidFill>
                <a:latin typeface="Roboto Mono Medium"/>
                <a:ea typeface="Roboto Mono Medium"/>
              </a:rPr>
              <a:t>,</a:t>
            </a:r>
            <a:r>
              <a:rPr lang="en-US" sz="4000" b="1" u="none" strike="noStrike" dirty="0">
                <a:solidFill>
                  <a:srgbClr val="DCFF50"/>
                </a:solidFill>
                <a:effectLst/>
                <a:uFillTx/>
                <a:latin typeface="Roboto Mono Medium"/>
                <a:ea typeface="Roboto Mono Medium"/>
              </a:rPr>
              <a:t> Testing</a:t>
            </a:r>
            <a:r>
              <a:rPr lang="en-US" sz="4000" b="1" dirty="0">
                <a:solidFill>
                  <a:srgbClr val="DCFF50"/>
                </a:solidFill>
                <a:latin typeface="Roboto Mono Medium"/>
                <a:ea typeface="Roboto Mono Medium"/>
              </a:rPr>
              <a:t> </a:t>
            </a:r>
            <a:r>
              <a:rPr lang="en-US" sz="4000" b="1" u="none" strike="noStrike" dirty="0">
                <a:solidFill>
                  <a:srgbClr val="DCFF50"/>
                </a:solidFill>
                <a:effectLst/>
                <a:uFillTx/>
                <a:latin typeface="Roboto Mono Medium"/>
                <a:ea typeface="Roboto Mono Medium"/>
              </a:rPr>
              <a:t>&amp; Troubleshooting</a:t>
            </a:r>
            <a:endParaRPr lang="en-GB" sz="4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560160" y="1504440"/>
            <a:ext cx="40323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149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Calibration Procedure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560160" y="214452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Calibri Light"/>
              <a:buAutoNum type="arabicPeriod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Power up circuit without magnetic field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560160" y="245664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Calibri Light"/>
              <a:buAutoNum type="arabicPeriod" startAt="2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Verify midpoint voltage (~2.5V for 5V supply)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560160" y="276840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Calibri Light"/>
              <a:buAutoNum type="arabicPeriod" startAt="3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Test with North pole - verify Green LED lights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560160" y="308052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Calibri Light"/>
              <a:buAutoNum type="arabicPeriod" startAt="4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Test with South pole - verify Red LED lights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560160" y="339228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Calibri Light"/>
              <a:buAutoNum type="arabicPeriod" startAt="5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Adjust thresholds if needed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560160" y="3888360"/>
            <a:ext cx="320040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149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Testing Methods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560160" y="452844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Use permanent magnets of known polarity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560160" y="484056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Test at various distances (0-30mm)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560160" y="515232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Verify response time and LED indication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560160" y="546444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Check for stable operation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560160" y="5960520"/>
            <a:ext cx="480060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149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Common Issues &amp; Solutions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560160" y="660060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1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No output</a:t>
            </a: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: Check power supply, connections, and sensor orientation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4"/>
          <p:cNvSpPr/>
          <p:nvPr/>
        </p:nvSpPr>
        <p:spPr>
          <a:xfrm>
            <a:off x="560160" y="691236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1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Incorrect polarity</a:t>
            </a: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: Verify sensor pinout and magnet polarity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560160" y="722448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1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Unstable readings</a:t>
            </a: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: Add 0.1µF capacitor across VCC-GND, increase distance from noise sources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6"/>
          <p:cNvSpPr/>
          <p:nvPr/>
        </p:nvSpPr>
        <p:spPr>
          <a:xfrm>
            <a:off x="560160" y="753624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1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Weak detection</a:t>
            </a: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: Use stronger magnet or adjust sensitivity threshold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18"/>
          <p:cNvSpPr/>
          <p:nvPr/>
        </p:nvSpPr>
        <p:spPr>
          <a:xfrm>
            <a:off x="12699720" y="7689600"/>
            <a:ext cx="1876320" cy="468360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8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3062160" y="1405800"/>
            <a:ext cx="8505360" cy="7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5550"/>
              </a:lnSpc>
              <a:tabLst>
                <a:tab pos="0" algn="l"/>
              </a:tabLst>
            </a:pPr>
            <a:r>
              <a:rPr lang="en-US" sz="4450" b="1" u="none" strike="noStrike" dirty="0">
                <a:solidFill>
                  <a:srgbClr val="DCFF50"/>
                </a:solidFill>
                <a:effectLst/>
                <a:uFillTx/>
                <a:latin typeface="Roboto Mono Medium"/>
                <a:ea typeface="Roboto Mono Medium"/>
              </a:rPr>
              <a:t>Applications &amp; Advantages</a:t>
            </a:r>
            <a:endParaRPr lang="en-GB" sz="44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"/>
          <p:cNvSpPr/>
          <p:nvPr/>
        </p:nvSpPr>
        <p:spPr>
          <a:xfrm>
            <a:off x="793800" y="2568240"/>
            <a:ext cx="6407280" cy="4571114"/>
          </a:xfrm>
          <a:prstGeom prst="roundRect">
            <a:avLst>
              <a:gd name="adj" fmla="val 800"/>
            </a:avLst>
          </a:prstGeom>
          <a:solidFill>
            <a:srgbClr val="14141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1020600" y="2795040"/>
            <a:ext cx="3910320" cy="35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Real-World Applications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1020600" y="3285360"/>
            <a:ext cx="5953680" cy="72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849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66FF66"/>
                </a:solidFill>
                <a:effectLst/>
                <a:uFillTx/>
                <a:latin typeface="Roboto"/>
                <a:ea typeface="Roboto"/>
              </a:rPr>
              <a:t>Automotive: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Wheel speed sensors, crankshaft position detection, gear position sensing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020600" y="4147200"/>
            <a:ext cx="5953680" cy="72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849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66FF66"/>
                </a:solidFill>
                <a:effectLst/>
                <a:uFillTx/>
                <a:latin typeface="Roboto"/>
                <a:ea typeface="Roboto"/>
              </a:rPr>
              <a:t>Industrial: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Conveyor position detection, rotary encoders, proximity switches, limit switches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1020600" y="5009040"/>
            <a:ext cx="5953680" cy="72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849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66FF66"/>
                </a:solidFill>
                <a:effectLst/>
                <a:uFillTx/>
                <a:latin typeface="Roboto"/>
                <a:ea typeface="Roboto"/>
              </a:rPr>
              <a:t>Consumer Electronics:</a:t>
            </a:r>
            <a:r>
              <a:rPr lang="en-US" sz="2400" b="0" u="none" strike="noStrike" dirty="0">
                <a:solidFill>
                  <a:srgbClr val="66FF66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Smartphone flip cover detection, laptop lid sensing, washing machine switches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1020600" y="6129019"/>
            <a:ext cx="5953680" cy="72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849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66FF66"/>
                </a:solidFill>
                <a:effectLst/>
                <a:uFillTx/>
                <a:latin typeface="Roboto"/>
                <a:ea typeface="Roboto"/>
              </a:rPr>
              <a:t>Measurement:</a:t>
            </a:r>
            <a:r>
              <a:rPr lang="en-US" sz="2400" b="0" u="none" strike="noStrike" dirty="0">
                <a:solidFill>
                  <a:srgbClr val="66FF66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Current clamp meters, non-contact voltage detection, magnetometers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7"/>
          <p:cNvSpPr/>
          <p:nvPr/>
        </p:nvSpPr>
        <p:spPr>
          <a:xfrm>
            <a:off x="7428600" y="2568240"/>
            <a:ext cx="6407280" cy="4571114"/>
          </a:xfrm>
          <a:prstGeom prst="roundRect">
            <a:avLst>
              <a:gd name="adj" fmla="val 800"/>
            </a:avLst>
          </a:prstGeom>
          <a:solidFill>
            <a:srgbClr val="14141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7655400" y="279504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Key Advantages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7655400" y="3368243"/>
            <a:ext cx="59536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✓ Non-contact operation (no mechanical wear)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7655400" y="3868948"/>
            <a:ext cx="59536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✓ Solid-state reliability (no moving parts)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7655400" y="4354827"/>
            <a:ext cx="59536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✓ Fast response time (microseconds)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7684200" y="4814695"/>
            <a:ext cx="59536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✓ Low power consumption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7655400" y="5270898"/>
            <a:ext cx="59536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✓ Directional sensitivity for polarity detection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4"/>
          <p:cNvSpPr/>
          <p:nvPr/>
        </p:nvSpPr>
        <p:spPr>
          <a:xfrm>
            <a:off x="7655400" y="5771603"/>
            <a:ext cx="59536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✓ Wide temperature range (-40°C to +150°C)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5"/>
          <p:cNvSpPr/>
          <p:nvPr/>
        </p:nvSpPr>
        <p:spPr>
          <a:xfrm>
            <a:off x="7655400" y="6227806"/>
            <a:ext cx="59536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✓ Long lifespan and maintenance-free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17"/>
          <p:cNvSpPr/>
          <p:nvPr/>
        </p:nvSpPr>
        <p:spPr>
          <a:xfrm>
            <a:off x="12699720" y="7689600"/>
            <a:ext cx="1876320" cy="468360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5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  <p:bldP spid="146" grpId="0"/>
      <p:bldP spid="147" grpId="0"/>
      <p:bldP spid="148" grpId="0"/>
      <p:bldP spid="149" grpId="0"/>
      <p:bldP spid="150" grpId="0"/>
      <p:bldP spid="152" grpId="0"/>
      <p:bldP spid="153" grpId="0"/>
      <p:bldP spid="154" grpId="0"/>
      <p:bldP spid="155" grpId="0"/>
      <p:bldP spid="156" grpId="0"/>
      <p:bldP spid="158" grpId="0"/>
      <p:bldP spid="1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3572760" y="562140"/>
            <a:ext cx="7484520" cy="99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ts val="39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DCFF50"/>
                </a:solidFill>
                <a:effectLst/>
                <a:uFillTx/>
                <a:latin typeface="Roboto Mono Medium"/>
                <a:ea typeface="Roboto Mono Medium"/>
              </a:rPr>
              <a:t>Conclusion &amp; Next Steps</a:t>
            </a:r>
            <a:endParaRPr lang="en-GB" sz="4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560160" y="1424700"/>
            <a:ext cx="320040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149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Key Takeaways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560160" y="200952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Hall effect sensors provide simple, reliable magnetic polarity detection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560160" y="234342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Basic circuit requires minimal components (sensor, resistors, LEDs, power supply)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560160" y="269532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Wide range of practical applications across multiple industries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560160" y="304722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Can be enhanced with microcontrollers for advanced features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560160" y="3576240"/>
            <a:ext cx="364860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149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Design Improvements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560160" y="412452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Add microcontroller for digital processing and data logging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560160" y="447210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Integrate wireless connectivity (Bluetooth/</a:t>
            </a:r>
            <a:r>
              <a:rPr lang="en-US" sz="2000" b="0" u="none" strike="noStrike" dirty="0" err="1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WiFi</a:t>
            </a: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) for IoT applications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560160" y="479214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Use 3D Hall sensors for position and orientation tracking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560160" y="511326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Implement temperature compensation for precision applications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560160" y="5648400"/>
            <a:ext cx="55688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149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66FF66"/>
                </a:solidFill>
                <a:effectLst/>
                <a:uFillTx/>
                <a:latin typeface="Roboto Mono Medium"/>
                <a:ea typeface="Roboto Mono Medium"/>
              </a:rPr>
              <a:t>Next Steps for Implementation</a:t>
            </a:r>
            <a:endParaRPr lang="en-GB" sz="3200" b="1" u="none" strike="noStrike" dirty="0">
              <a:solidFill>
                <a:srgbClr val="66FF66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560160" y="621144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Calibri Light"/>
              <a:buAutoNum type="arabicPeriod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Select appropriate Hall sensor based on application requirements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560160" y="654651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Calibri Light"/>
              <a:buAutoNum type="arabicPeriod" startAt="2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Build and test prototype on breadboard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560160" y="689436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Calibri Light"/>
              <a:buAutoNum type="arabicPeriod" startAt="3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Design PCB for permanent installation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5"/>
          <p:cNvSpPr/>
          <p:nvPr/>
        </p:nvSpPr>
        <p:spPr>
          <a:xfrm>
            <a:off x="560160" y="7249140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Calibri Light"/>
              <a:buAutoNum type="arabicPeriod" startAt="4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Experiment with different magnet types and distances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6"/>
          <p:cNvSpPr/>
          <p:nvPr/>
        </p:nvSpPr>
        <p:spPr>
          <a:xfrm>
            <a:off x="560160" y="7618523"/>
            <a:ext cx="13509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2001"/>
              </a:lnSpc>
              <a:buClr>
                <a:srgbClr val="E5E0DF"/>
              </a:buClr>
              <a:buFont typeface="Calibri Light"/>
              <a:buAutoNum type="arabicPeriod" startAt="5"/>
            </a:pPr>
            <a:r>
              <a:rPr lang="en-US" sz="200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Consider integration with Arduino or other microcontroller platforms</a:t>
            </a:r>
            <a:endParaRPr lang="en-GB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18"/>
          <p:cNvSpPr/>
          <p:nvPr/>
        </p:nvSpPr>
        <p:spPr>
          <a:xfrm>
            <a:off x="12699720" y="7689600"/>
            <a:ext cx="1876320" cy="468360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3" grpId="0"/>
      <p:bldP spid="174" grpId="0"/>
      <p:bldP spid="175" grpId="0"/>
      <p:bldP spid="17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4629680" cy="283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 0"/>
          <p:cNvSpPr/>
          <p:nvPr/>
        </p:nvSpPr>
        <p:spPr>
          <a:xfrm>
            <a:off x="4479840" y="4517640"/>
            <a:ext cx="5670000" cy="7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5550"/>
              </a:lnSpc>
              <a:tabLst>
                <a:tab pos="0" algn="l"/>
              </a:tabLst>
            </a:pPr>
            <a:r>
              <a:rPr lang="en-US" sz="7200" b="1" u="none" strike="noStrike" dirty="0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Thank You!</a:t>
            </a:r>
            <a:endParaRPr lang="en-GB" sz="72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793800" y="5566320"/>
            <a:ext cx="130420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We appreciate your time and attention.</a:t>
            </a:r>
            <a:endParaRPr lang="en-GB" sz="1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793800" y="6184440"/>
            <a:ext cx="13042080" cy="3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 dirty="0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Questions &amp; Discussion</a:t>
            </a:r>
            <a:endParaRPr lang="en-GB" sz="1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5"/>
          <p:cNvSpPr/>
          <p:nvPr/>
        </p:nvSpPr>
        <p:spPr>
          <a:xfrm>
            <a:off x="12699720" y="7689600"/>
            <a:ext cx="1876320" cy="468360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/>
      <p:bldP spid="181" grpId="0"/>
      <p:bldP spid="18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</TotalTime>
  <Words>893</Words>
  <Application>Microsoft Office PowerPoint</Application>
  <PresentationFormat>Custom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Roboto Mono Medium</vt:lpstr>
      <vt:lpstr>Symbol</vt:lpstr>
      <vt:lpstr>Arial</vt:lpstr>
      <vt:lpstr>Roboto</vt:lpstr>
      <vt:lpstr>Roboto Mono Light</vt:lpstr>
      <vt:lpstr>Broadway</vt:lpstr>
      <vt:lpstr>Times New Roman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Mriam Mansour</dc:creator>
  <dc:description/>
  <cp:lastModifiedBy>Mriam Mansour</cp:lastModifiedBy>
  <cp:revision>7</cp:revision>
  <dcterms:created xsi:type="dcterms:W3CDTF">2025-11-30T06:42:53Z</dcterms:created>
  <dcterms:modified xsi:type="dcterms:W3CDTF">2025-12-13T07:54:20Z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Custom</vt:lpwstr>
  </property>
  <property fmtid="{D5CDD505-2E9C-101B-9397-08002B2CF9AE}" pid="4" name="Slides">
    <vt:i4>10</vt:i4>
  </property>
</Properties>
</file>