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C Diary Girl" charset="1" panose="02000603000000000000"/>
      <p:regular r:id="rId15"/>
    </p:embeddedFont>
    <p:embeddedFont>
      <p:font typeface="Canva Sans" charset="1" panose="020B0503030501040103"/>
      <p:regular r:id="rId16"/>
    </p:embeddedFont>
    <p:embeddedFont>
      <p:font typeface="Nunito" charset="1" panose="00000000000000000000"/>
      <p:regular r:id="rId17"/>
    </p:embeddedFont>
    <p:embeddedFont>
      <p:font typeface="Canva Sans Bold" charset="1" panose="020B0803030501040103"/>
      <p:regular r:id="rId18"/>
    </p:embeddedFont>
    <p:embeddedFont>
      <p:font typeface="Canva Sans Italics" charset="1" panose="020B05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465442">
            <a:off x="15761452" y="707247"/>
            <a:ext cx="2013817" cy="2206373"/>
          </a:xfrm>
          <a:custGeom>
            <a:avLst/>
            <a:gdLst/>
            <a:ahLst/>
            <a:cxnLst/>
            <a:rect r="r" b="b" t="t" l="l"/>
            <a:pathLst>
              <a:path h="2206373" w="2013817">
                <a:moveTo>
                  <a:pt x="0" y="0"/>
                </a:moveTo>
                <a:lnTo>
                  <a:pt x="2013817" y="0"/>
                </a:lnTo>
                <a:lnTo>
                  <a:pt x="2013817" y="2206373"/>
                </a:lnTo>
                <a:lnTo>
                  <a:pt x="0" y="22063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825094" y="8627655"/>
            <a:ext cx="3434206" cy="630645"/>
          </a:xfrm>
          <a:custGeom>
            <a:avLst/>
            <a:gdLst/>
            <a:ahLst/>
            <a:cxnLst/>
            <a:rect r="r" b="b" t="t" l="l"/>
            <a:pathLst>
              <a:path h="630645" w="3434206">
                <a:moveTo>
                  <a:pt x="0" y="0"/>
                </a:moveTo>
                <a:lnTo>
                  <a:pt x="3434206" y="0"/>
                </a:lnTo>
                <a:lnTo>
                  <a:pt x="3434206" y="630645"/>
                </a:lnTo>
                <a:lnTo>
                  <a:pt x="0" y="6306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537417">
            <a:off x="10374" y="7464054"/>
            <a:ext cx="3549699" cy="2562238"/>
          </a:xfrm>
          <a:custGeom>
            <a:avLst/>
            <a:gdLst/>
            <a:ahLst/>
            <a:cxnLst/>
            <a:rect r="r" b="b" t="t" l="l"/>
            <a:pathLst>
              <a:path h="2562238" w="3549699">
                <a:moveTo>
                  <a:pt x="0" y="0"/>
                </a:moveTo>
                <a:lnTo>
                  <a:pt x="3549699" y="0"/>
                </a:lnTo>
                <a:lnTo>
                  <a:pt x="3549699" y="2562238"/>
                </a:lnTo>
                <a:lnTo>
                  <a:pt x="0" y="25622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3474363" y="2632803"/>
            <a:ext cx="12067834" cy="6231022"/>
          </a:xfrm>
          <a:prstGeom prst="rect">
            <a:avLst/>
          </a:prstGeom>
        </p:spPr>
        <p:txBody>
          <a:bodyPr anchor="t" rtlCol="false" tIns="0" lIns="0" bIns="0" rIns="0">
            <a:spAutoFit/>
          </a:bodyPr>
          <a:lstStyle/>
          <a:p>
            <a:pPr algn="ctr">
              <a:lnSpc>
                <a:spcPts val="11825"/>
              </a:lnSpc>
            </a:pPr>
            <a:r>
              <a:rPr lang="en-US" sz="8446">
                <a:solidFill>
                  <a:srgbClr val="337271"/>
                </a:solidFill>
                <a:latin typeface="AC Diary Girl"/>
                <a:ea typeface="AC Diary Girl"/>
                <a:cs typeface="AC Diary Girl"/>
                <a:sym typeface="AC Diary Girl"/>
              </a:rPr>
              <a:t>Door security Alarm System</a:t>
            </a:r>
          </a:p>
          <a:p>
            <a:pPr algn="ctr">
              <a:lnSpc>
                <a:spcPts val="11825"/>
              </a:lnSpc>
            </a:pPr>
          </a:p>
          <a:p>
            <a:pPr algn="ctr">
              <a:lnSpc>
                <a:spcPts val="6470"/>
              </a:lnSpc>
            </a:pPr>
            <a:r>
              <a:rPr lang="en-US" sz="4621">
                <a:solidFill>
                  <a:srgbClr val="337271"/>
                </a:solidFill>
                <a:latin typeface="AC Diary Girl"/>
                <a:ea typeface="AC Diary Girl"/>
                <a:cs typeface="AC Diary Girl"/>
                <a:sym typeface="AC Diary Girl"/>
              </a:rPr>
              <a:t>Faculty Of Navigation and </a:t>
            </a:r>
          </a:p>
          <a:p>
            <a:pPr algn="ctr">
              <a:lnSpc>
                <a:spcPts val="6890"/>
              </a:lnSpc>
            </a:pPr>
            <a:r>
              <a:rPr lang="en-US" sz="4921">
                <a:solidFill>
                  <a:srgbClr val="337271"/>
                </a:solidFill>
                <a:latin typeface="AC Diary Girl"/>
                <a:ea typeface="AC Diary Girl"/>
                <a:cs typeface="AC Diary Girl"/>
                <a:sym typeface="AC Diary Girl"/>
              </a:rPr>
              <a:t>space technology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1582456" y="4637361"/>
            <a:ext cx="7256524" cy="1193812"/>
            <a:chOff x="0" y="0"/>
            <a:chExt cx="1911183" cy="314420"/>
          </a:xfrm>
        </p:grpSpPr>
        <p:sp>
          <p:nvSpPr>
            <p:cNvPr name="Freeform 4" id="4"/>
            <p:cNvSpPr/>
            <p:nvPr/>
          </p:nvSpPr>
          <p:spPr>
            <a:xfrm flipH="false" flipV="false" rot="0">
              <a:off x="0" y="0"/>
              <a:ext cx="1911183" cy="314420"/>
            </a:xfrm>
            <a:custGeom>
              <a:avLst/>
              <a:gdLst/>
              <a:ahLst/>
              <a:cxnLst/>
              <a:rect r="r" b="b" t="t" l="l"/>
              <a:pathLst>
                <a:path h="314420" w="1911183">
                  <a:moveTo>
                    <a:pt x="0" y="0"/>
                  </a:moveTo>
                  <a:lnTo>
                    <a:pt x="1911183" y="0"/>
                  </a:lnTo>
                  <a:lnTo>
                    <a:pt x="1911183" y="314420"/>
                  </a:lnTo>
                  <a:lnTo>
                    <a:pt x="0" y="314420"/>
                  </a:lnTo>
                  <a:close/>
                </a:path>
              </a:pathLst>
            </a:custGeom>
            <a:solidFill>
              <a:srgbClr val="337271"/>
            </a:solidFill>
          </p:spPr>
        </p:sp>
        <p:sp>
          <p:nvSpPr>
            <p:cNvPr name="TextBox 5" id="5"/>
            <p:cNvSpPr txBox="true"/>
            <p:nvPr/>
          </p:nvSpPr>
          <p:spPr>
            <a:xfrm>
              <a:off x="0" y="-76200"/>
              <a:ext cx="1911183" cy="390620"/>
            </a:xfrm>
            <a:prstGeom prst="rect">
              <a:avLst/>
            </a:prstGeom>
          </p:spPr>
          <p:txBody>
            <a:bodyPr anchor="ctr" rtlCol="false" tIns="50800" lIns="50800" bIns="50800" rIns="50800"/>
            <a:lstStyle/>
            <a:p>
              <a:pPr algn="ctr">
                <a:lnSpc>
                  <a:spcPts val="6299"/>
                </a:lnSpc>
              </a:pPr>
              <a:r>
                <a:rPr lang="en-US" sz="4499">
                  <a:solidFill>
                    <a:srgbClr val="FFFFFF"/>
                  </a:solidFill>
                  <a:latin typeface="Canva Sans"/>
                  <a:ea typeface="Canva Sans"/>
                  <a:cs typeface="Canva Sans"/>
                  <a:sym typeface="Canva Sans"/>
                </a:rPr>
                <a:t>Hany Ehab</a:t>
              </a:r>
            </a:p>
          </p:txBody>
        </p:sp>
      </p:grpSp>
      <p:grpSp>
        <p:nvGrpSpPr>
          <p:cNvPr name="Group 6" id="6"/>
          <p:cNvGrpSpPr/>
          <p:nvPr/>
        </p:nvGrpSpPr>
        <p:grpSpPr>
          <a:xfrm rot="0">
            <a:off x="9855026" y="4546594"/>
            <a:ext cx="6475580" cy="1193812"/>
            <a:chOff x="0" y="0"/>
            <a:chExt cx="1705503" cy="314420"/>
          </a:xfrm>
        </p:grpSpPr>
        <p:sp>
          <p:nvSpPr>
            <p:cNvPr name="Freeform 7" id="7"/>
            <p:cNvSpPr/>
            <p:nvPr/>
          </p:nvSpPr>
          <p:spPr>
            <a:xfrm flipH="false" flipV="false" rot="0">
              <a:off x="0" y="0"/>
              <a:ext cx="1705503" cy="314420"/>
            </a:xfrm>
            <a:custGeom>
              <a:avLst/>
              <a:gdLst/>
              <a:ahLst/>
              <a:cxnLst/>
              <a:rect r="r" b="b" t="t" l="l"/>
              <a:pathLst>
                <a:path h="314420" w="1705503">
                  <a:moveTo>
                    <a:pt x="0" y="0"/>
                  </a:moveTo>
                  <a:lnTo>
                    <a:pt x="1705503" y="0"/>
                  </a:lnTo>
                  <a:lnTo>
                    <a:pt x="1705503" y="314420"/>
                  </a:lnTo>
                  <a:lnTo>
                    <a:pt x="0" y="314420"/>
                  </a:lnTo>
                  <a:close/>
                </a:path>
              </a:pathLst>
            </a:custGeom>
            <a:solidFill>
              <a:srgbClr val="337271"/>
            </a:solidFill>
          </p:spPr>
        </p:sp>
        <p:sp>
          <p:nvSpPr>
            <p:cNvPr name="TextBox 8" id="8"/>
            <p:cNvSpPr txBox="true"/>
            <p:nvPr/>
          </p:nvSpPr>
          <p:spPr>
            <a:xfrm>
              <a:off x="0" y="-38100"/>
              <a:ext cx="1705503" cy="35252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855026" y="6545547"/>
            <a:ext cx="6475580" cy="1193812"/>
            <a:chOff x="0" y="0"/>
            <a:chExt cx="1705503" cy="314420"/>
          </a:xfrm>
        </p:grpSpPr>
        <p:sp>
          <p:nvSpPr>
            <p:cNvPr name="Freeform 10" id="10"/>
            <p:cNvSpPr/>
            <p:nvPr/>
          </p:nvSpPr>
          <p:spPr>
            <a:xfrm flipH="false" flipV="false" rot="0">
              <a:off x="0" y="0"/>
              <a:ext cx="1705503" cy="314420"/>
            </a:xfrm>
            <a:custGeom>
              <a:avLst/>
              <a:gdLst/>
              <a:ahLst/>
              <a:cxnLst/>
              <a:rect r="r" b="b" t="t" l="l"/>
              <a:pathLst>
                <a:path h="314420" w="1705503">
                  <a:moveTo>
                    <a:pt x="0" y="0"/>
                  </a:moveTo>
                  <a:lnTo>
                    <a:pt x="1705503" y="0"/>
                  </a:lnTo>
                  <a:lnTo>
                    <a:pt x="1705503" y="314420"/>
                  </a:lnTo>
                  <a:lnTo>
                    <a:pt x="0" y="314420"/>
                  </a:lnTo>
                  <a:close/>
                </a:path>
              </a:pathLst>
            </a:custGeom>
            <a:solidFill>
              <a:srgbClr val="337271"/>
            </a:solidFill>
          </p:spPr>
        </p:sp>
        <p:sp>
          <p:nvSpPr>
            <p:cNvPr name="TextBox 11" id="11"/>
            <p:cNvSpPr txBox="true"/>
            <p:nvPr/>
          </p:nvSpPr>
          <p:spPr>
            <a:xfrm>
              <a:off x="0" y="-38100"/>
              <a:ext cx="1705503" cy="35252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582456" y="6545547"/>
            <a:ext cx="7256524" cy="1193812"/>
            <a:chOff x="0" y="0"/>
            <a:chExt cx="1911183" cy="314420"/>
          </a:xfrm>
        </p:grpSpPr>
        <p:sp>
          <p:nvSpPr>
            <p:cNvPr name="Freeform 13" id="13"/>
            <p:cNvSpPr/>
            <p:nvPr/>
          </p:nvSpPr>
          <p:spPr>
            <a:xfrm flipH="false" flipV="false" rot="0">
              <a:off x="0" y="0"/>
              <a:ext cx="1911183" cy="314420"/>
            </a:xfrm>
            <a:custGeom>
              <a:avLst/>
              <a:gdLst/>
              <a:ahLst/>
              <a:cxnLst/>
              <a:rect r="r" b="b" t="t" l="l"/>
              <a:pathLst>
                <a:path h="314420" w="1911183">
                  <a:moveTo>
                    <a:pt x="0" y="0"/>
                  </a:moveTo>
                  <a:lnTo>
                    <a:pt x="1911183" y="0"/>
                  </a:lnTo>
                  <a:lnTo>
                    <a:pt x="1911183" y="314420"/>
                  </a:lnTo>
                  <a:lnTo>
                    <a:pt x="0" y="314420"/>
                  </a:lnTo>
                  <a:close/>
                </a:path>
              </a:pathLst>
            </a:custGeom>
            <a:solidFill>
              <a:srgbClr val="337271"/>
            </a:solidFill>
          </p:spPr>
        </p:sp>
        <p:sp>
          <p:nvSpPr>
            <p:cNvPr name="TextBox 14" id="14"/>
            <p:cNvSpPr txBox="true"/>
            <p:nvPr/>
          </p:nvSpPr>
          <p:spPr>
            <a:xfrm>
              <a:off x="0" y="-85725"/>
              <a:ext cx="1911183" cy="400145"/>
            </a:xfrm>
            <a:prstGeom prst="rect">
              <a:avLst/>
            </a:prstGeom>
          </p:spPr>
          <p:txBody>
            <a:bodyPr anchor="ctr" rtlCol="false" tIns="50800" lIns="50800" bIns="50800" rIns="50800"/>
            <a:lstStyle/>
            <a:p>
              <a:pPr algn="ctr">
                <a:lnSpc>
                  <a:spcPts val="6859"/>
                </a:lnSpc>
              </a:pPr>
              <a:r>
                <a:rPr lang="en-US" sz="4899">
                  <a:solidFill>
                    <a:srgbClr val="FFFFFF"/>
                  </a:solidFill>
                  <a:latin typeface="Canva Sans"/>
                  <a:ea typeface="Canva Sans"/>
                  <a:cs typeface="Canva Sans"/>
                  <a:sym typeface="Canva Sans"/>
                </a:rPr>
                <a:t>Mariam Emad</a:t>
              </a:r>
            </a:p>
          </p:txBody>
        </p:sp>
      </p:grpSp>
      <p:sp>
        <p:nvSpPr>
          <p:cNvPr name="Freeform 15" id="15"/>
          <p:cNvSpPr/>
          <p:nvPr/>
        </p:nvSpPr>
        <p:spPr>
          <a:xfrm flipH="true" flipV="false" rot="0">
            <a:off x="12419685" y="8167555"/>
            <a:ext cx="3551363" cy="1646945"/>
          </a:xfrm>
          <a:custGeom>
            <a:avLst/>
            <a:gdLst/>
            <a:ahLst/>
            <a:cxnLst/>
            <a:rect r="r" b="b" t="t" l="l"/>
            <a:pathLst>
              <a:path h="1646945" w="3551363">
                <a:moveTo>
                  <a:pt x="3551363" y="0"/>
                </a:moveTo>
                <a:lnTo>
                  <a:pt x="0" y="0"/>
                </a:lnTo>
                <a:lnTo>
                  <a:pt x="0" y="1646945"/>
                </a:lnTo>
                <a:lnTo>
                  <a:pt x="3551363" y="1646945"/>
                </a:lnTo>
                <a:lnTo>
                  <a:pt x="355136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0" y="1028700"/>
            <a:ext cx="3551363" cy="1646945"/>
          </a:xfrm>
          <a:custGeom>
            <a:avLst/>
            <a:gdLst/>
            <a:ahLst/>
            <a:cxnLst/>
            <a:rect r="r" b="b" t="t" l="l"/>
            <a:pathLst>
              <a:path h="1646945" w="3551363">
                <a:moveTo>
                  <a:pt x="0" y="0"/>
                </a:moveTo>
                <a:lnTo>
                  <a:pt x="3551363" y="0"/>
                </a:lnTo>
                <a:lnTo>
                  <a:pt x="3551363"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10936705" y="4644404"/>
            <a:ext cx="4521635" cy="987938"/>
            <a:chOff x="0" y="0"/>
            <a:chExt cx="1190883" cy="260198"/>
          </a:xfrm>
        </p:grpSpPr>
        <p:sp>
          <p:nvSpPr>
            <p:cNvPr name="Freeform 18" id="18"/>
            <p:cNvSpPr/>
            <p:nvPr/>
          </p:nvSpPr>
          <p:spPr>
            <a:xfrm flipH="false" flipV="false" rot="0">
              <a:off x="0" y="0"/>
              <a:ext cx="1190883" cy="260198"/>
            </a:xfrm>
            <a:custGeom>
              <a:avLst/>
              <a:gdLst/>
              <a:ahLst/>
              <a:cxnLst/>
              <a:rect r="r" b="b" t="t" l="l"/>
              <a:pathLst>
                <a:path h="260198" w="1190883">
                  <a:moveTo>
                    <a:pt x="0" y="0"/>
                  </a:moveTo>
                  <a:lnTo>
                    <a:pt x="1190883" y="0"/>
                  </a:lnTo>
                  <a:lnTo>
                    <a:pt x="1190883" y="260198"/>
                  </a:lnTo>
                  <a:lnTo>
                    <a:pt x="0" y="260198"/>
                  </a:lnTo>
                  <a:close/>
                </a:path>
              </a:pathLst>
            </a:custGeom>
            <a:solidFill>
              <a:srgbClr val="337271"/>
            </a:solidFill>
          </p:spPr>
        </p:sp>
        <p:sp>
          <p:nvSpPr>
            <p:cNvPr name="TextBox 19" id="19"/>
            <p:cNvSpPr txBox="true"/>
            <p:nvPr/>
          </p:nvSpPr>
          <p:spPr>
            <a:xfrm>
              <a:off x="0" y="-38100"/>
              <a:ext cx="1190883" cy="298298"/>
            </a:xfrm>
            <a:prstGeom prst="rect">
              <a:avLst/>
            </a:prstGeom>
          </p:spPr>
          <p:txBody>
            <a:bodyPr anchor="ctr" rtlCol="false" tIns="50800" lIns="50800" bIns="50800" rIns="50800"/>
            <a:lstStyle/>
            <a:p>
              <a:pPr algn="ctr">
                <a:lnSpc>
                  <a:spcPts val="2659"/>
                </a:lnSpc>
              </a:pPr>
              <a:r>
                <a:rPr lang="en-US" sz="1899">
                  <a:solidFill>
                    <a:srgbClr val="FFFFFF"/>
                  </a:solidFill>
                  <a:latin typeface="Canva Sans"/>
                  <a:ea typeface="Canva Sans"/>
                  <a:cs typeface="Canva Sans"/>
                  <a:sym typeface="Canva Sans"/>
                </a:rPr>
                <a:t>ia</a:t>
              </a:r>
            </a:p>
          </p:txBody>
        </p:sp>
      </p:grpSp>
      <p:sp>
        <p:nvSpPr>
          <p:cNvPr name="TextBox 20" id="20"/>
          <p:cNvSpPr txBox="true"/>
          <p:nvPr/>
        </p:nvSpPr>
        <p:spPr>
          <a:xfrm rot="0">
            <a:off x="4796206" y="2290466"/>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Our Team</a:t>
            </a:r>
          </a:p>
        </p:txBody>
      </p:sp>
      <p:sp>
        <p:nvSpPr>
          <p:cNvPr name="TextBox 21" id="21"/>
          <p:cNvSpPr txBox="true"/>
          <p:nvPr/>
        </p:nvSpPr>
        <p:spPr>
          <a:xfrm rot="0">
            <a:off x="10214585" y="4659313"/>
            <a:ext cx="5756463" cy="863600"/>
          </a:xfrm>
          <a:prstGeom prst="rect">
            <a:avLst/>
          </a:prstGeom>
        </p:spPr>
        <p:txBody>
          <a:bodyPr anchor="t" rtlCol="false" tIns="0" lIns="0" bIns="0" rIns="0">
            <a:spAutoFit/>
          </a:bodyPr>
          <a:lstStyle/>
          <a:p>
            <a:pPr algn="ctr">
              <a:lnSpc>
                <a:spcPts val="7000"/>
              </a:lnSpc>
            </a:pPr>
            <a:r>
              <a:rPr lang="en-US" sz="5000">
                <a:solidFill>
                  <a:srgbClr val="FFFFFF"/>
                </a:solidFill>
                <a:latin typeface="Nunito"/>
                <a:ea typeface="Nunito"/>
                <a:cs typeface="Nunito"/>
                <a:sym typeface="Nunito"/>
              </a:rPr>
              <a:t>Tasneem</a:t>
            </a:r>
          </a:p>
        </p:txBody>
      </p:sp>
      <p:sp>
        <p:nvSpPr>
          <p:cNvPr name="TextBox 22" id="22"/>
          <p:cNvSpPr txBox="true"/>
          <p:nvPr/>
        </p:nvSpPr>
        <p:spPr>
          <a:xfrm rot="0">
            <a:off x="10213763" y="6653138"/>
            <a:ext cx="6116844" cy="911106"/>
          </a:xfrm>
          <a:prstGeom prst="rect">
            <a:avLst/>
          </a:prstGeom>
        </p:spPr>
        <p:txBody>
          <a:bodyPr anchor="t" rtlCol="false" tIns="0" lIns="0" bIns="0" rIns="0">
            <a:spAutoFit/>
          </a:bodyPr>
          <a:lstStyle/>
          <a:p>
            <a:pPr algn="ctr">
              <a:lnSpc>
                <a:spcPts val="7438"/>
              </a:lnSpc>
            </a:pPr>
            <a:r>
              <a:rPr lang="en-US" sz="5313">
                <a:solidFill>
                  <a:srgbClr val="FFFFFF"/>
                </a:solidFill>
                <a:latin typeface="Nunito"/>
                <a:ea typeface="Nunito"/>
                <a:cs typeface="Nunito"/>
                <a:sym typeface="Nunito"/>
              </a:rPr>
              <a:t>ALaa Ibrahem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6654090" y="1630129"/>
            <a:ext cx="6885295"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Abstract</a:t>
            </a:r>
          </a:p>
        </p:txBody>
      </p:sp>
      <p:sp>
        <p:nvSpPr>
          <p:cNvPr name="TextBox 4" id="4"/>
          <p:cNvSpPr txBox="true"/>
          <p:nvPr/>
        </p:nvSpPr>
        <p:spPr>
          <a:xfrm rot="0">
            <a:off x="2080967" y="4612367"/>
            <a:ext cx="13922453" cy="31813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This project presents a simple automatic door security alarm system that activates when the door is opened. The system is designed to provide a basic safety alert using a magnetic sensor and a buzzer or LED indicator. When the door opens, the circuit is completed and a sound or light alert is triggered. This project demonstrates the basic principle of magnetic sensing and simple electronic control.</a:t>
            </a:r>
          </a:p>
        </p:txBody>
      </p:sp>
      <p:sp>
        <p:nvSpPr>
          <p:cNvPr name="Freeform 5" id="5"/>
          <p:cNvSpPr/>
          <p:nvPr/>
        </p:nvSpPr>
        <p:spPr>
          <a:xfrm flipH="false" flipV="false" rot="0">
            <a:off x="-2099932" y="-1172339"/>
            <a:ext cx="6257264" cy="3629213"/>
          </a:xfrm>
          <a:custGeom>
            <a:avLst/>
            <a:gdLst/>
            <a:ahLst/>
            <a:cxnLst/>
            <a:rect r="r" b="b" t="t" l="l"/>
            <a:pathLst>
              <a:path h="3629213" w="6257264">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2099932" y="-1172339"/>
            <a:ext cx="6257264" cy="3629213"/>
          </a:xfrm>
          <a:custGeom>
            <a:avLst/>
            <a:gdLst/>
            <a:ahLst/>
            <a:cxnLst/>
            <a:rect r="r" b="b" t="t" l="l"/>
            <a:pathLst>
              <a:path h="3629213" w="6257264">
                <a:moveTo>
                  <a:pt x="0" y="0"/>
                </a:moveTo>
                <a:lnTo>
                  <a:pt x="6257264" y="0"/>
                </a:lnTo>
                <a:lnTo>
                  <a:pt x="6257264" y="3629214"/>
                </a:lnTo>
                <a:lnTo>
                  <a:pt x="0" y="3629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796206" y="2199700"/>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Introduction</a:t>
            </a:r>
          </a:p>
        </p:txBody>
      </p:sp>
      <p:sp>
        <p:nvSpPr>
          <p:cNvPr name="TextBox 6" id="6"/>
          <p:cNvSpPr txBox="true"/>
          <p:nvPr/>
        </p:nvSpPr>
        <p:spPr>
          <a:xfrm rot="0">
            <a:off x="1503960" y="4034301"/>
            <a:ext cx="15240346" cy="3377957"/>
          </a:xfrm>
          <a:prstGeom prst="rect">
            <a:avLst/>
          </a:prstGeom>
        </p:spPr>
        <p:txBody>
          <a:bodyPr anchor="t" rtlCol="false" tIns="0" lIns="0" bIns="0" rIns="0">
            <a:spAutoFit/>
          </a:bodyPr>
          <a:lstStyle/>
          <a:p>
            <a:pPr algn="ctr">
              <a:lnSpc>
                <a:spcPts val="4464"/>
              </a:lnSpc>
            </a:pPr>
          </a:p>
          <a:p>
            <a:pPr algn="ctr">
              <a:lnSpc>
                <a:spcPts val="4464"/>
              </a:lnSpc>
            </a:pPr>
            <a:r>
              <a:rPr lang="en-US" sz="3188">
                <a:solidFill>
                  <a:srgbClr val="337271"/>
                </a:solidFill>
                <a:latin typeface="Nunito"/>
                <a:ea typeface="Nunito"/>
                <a:cs typeface="Nunito"/>
                <a:sym typeface="Nunito"/>
              </a:rPr>
              <a:t>Security systems are essential for protecting homes and offices. This project aims to design a simple and low-cost door alarm system that works automatically without human intervention. The system uses a Reed Switch sensor to detect when the door is opened and then activates an alarm (sound or light). The concept can be used in many applications like lockers, refrigerators, and smart home systems.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2697845" y="3579127"/>
            <a:ext cx="12892311" cy="1365838"/>
            <a:chOff x="0" y="0"/>
            <a:chExt cx="3395506" cy="359727"/>
          </a:xfrm>
        </p:grpSpPr>
        <p:sp>
          <p:nvSpPr>
            <p:cNvPr name="Freeform 4" id="4"/>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solidFill>
              <a:srgbClr val="000000">
                <a:alpha val="0"/>
              </a:srgbClr>
            </a:solidFill>
            <a:ln w="38100" cap="sq">
              <a:solidFill>
                <a:srgbClr val="337271"/>
              </a:solidFill>
              <a:prstDash val="solid"/>
              <a:miter/>
            </a:ln>
          </p:spPr>
        </p:sp>
        <p:sp>
          <p:nvSpPr>
            <p:cNvPr name="TextBox 5" id="5"/>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697845" y="5345015"/>
            <a:ext cx="12892311" cy="1365838"/>
            <a:chOff x="0" y="0"/>
            <a:chExt cx="3395506" cy="359727"/>
          </a:xfrm>
        </p:grpSpPr>
        <p:sp>
          <p:nvSpPr>
            <p:cNvPr name="Freeform 7" id="7"/>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solidFill>
              <a:srgbClr val="000000">
                <a:alpha val="0"/>
              </a:srgbClr>
            </a:solidFill>
            <a:ln w="38100" cap="sq">
              <a:solidFill>
                <a:srgbClr val="337271"/>
              </a:solidFill>
              <a:prstDash val="solid"/>
              <a:miter/>
            </a:ln>
          </p:spPr>
        </p:sp>
        <p:sp>
          <p:nvSpPr>
            <p:cNvPr name="TextBox 8" id="8"/>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2697845" y="7110903"/>
            <a:ext cx="12892311" cy="1365838"/>
            <a:chOff x="0" y="0"/>
            <a:chExt cx="3395506" cy="359727"/>
          </a:xfrm>
        </p:grpSpPr>
        <p:sp>
          <p:nvSpPr>
            <p:cNvPr name="Freeform 10" id="10"/>
            <p:cNvSpPr/>
            <p:nvPr/>
          </p:nvSpPr>
          <p:spPr>
            <a:xfrm flipH="false" flipV="false" rot="0">
              <a:off x="0" y="0"/>
              <a:ext cx="3395506" cy="359727"/>
            </a:xfrm>
            <a:custGeom>
              <a:avLst/>
              <a:gdLst/>
              <a:ahLst/>
              <a:cxnLst/>
              <a:rect r="r" b="b" t="t" l="l"/>
              <a:pathLst>
                <a:path h="359727" w="3395506">
                  <a:moveTo>
                    <a:pt x="0" y="0"/>
                  </a:moveTo>
                  <a:lnTo>
                    <a:pt x="3395506" y="0"/>
                  </a:lnTo>
                  <a:lnTo>
                    <a:pt x="3395506" y="359727"/>
                  </a:lnTo>
                  <a:lnTo>
                    <a:pt x="0" y="359727"/>
                  </a:lnTo>
                  <a:close/>
                </a:path>
              </a:pathLst>
            </a:custGeom>
            <a:solidFill>
              <a:srgbClr val="000000">
                <a:alpha val="0"/>
              </a:srgbClr>
            </a:solidFill>
            <a:ln w="38100" cap="sq">
              <a:solidFill>
                <a:srgbClr val="337271"/>
              </a:solidFill>
              <a:prstDash val="solid"/>
              <a:miter/>
            </a:ln>
          </p:spPr>
        </p:sp>
        <p:sp>
          <p:nvSpPr>
            <p:cNvPr name="TextBox 11" id="11"/>
            <p:cNvSpPr txBox="true"/>
            <p:nvPr/>
          </p:nvSpPr>
          <p:spPr>
            <a:xfrm>
              <a:off x="0" y="-38100"/>
              <a:ext cx="3395506" cy="397827"/>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4796206" y="1553084"/>
            <a:ext cx="8695587" cy="1628773"/>
          </a:xfrm>
          <a:prstGeom prst="rect">
            <a:avLst/>
          </a:prstGeom>
        </p:spPr>
        <p:txBody>
          <a:bodyPr anchor="t" rtlCol="false" tIns="0" lIns="0" bIns="0" rIns="0">
            <a:spAutoFit/>
          </a:bodyPr>
          <a:lstStyle/>
          <a:p>
            <a:pPr algn="ctr">
              <a:lnSpc>
                <a:spcPts val="12600"/>
              </a:lnSpc>
            </a:pPr>
            <a:r>
              <a:rPr lang="en-US" sz="9000">
                <a:solidFill>
                  <a:srgbClr val="337271"/>
                </a:solidFill>
                <a:latin typeface="AC Diary Girl"/>
                <a:ea typeface="AC Diary Girl"/>
                <a:cs typeface="AC Diary Girl"/>
                <a:sym typeface="AC Diary Girl"/>
              </a:rPr>
              <a:t>Project Goals</a:t>
            </a:r>
          </a:p>
        </p:txBody>
      </p:sp>
      <p:sp>
        <p:nvSpPr>
          <p:cNvPr name="TextBox 13" id="13"/>
          <p:cNvSpPr txBox="true"/>
          <p:nvPr/>
        </p:nvSpPr>
        <p:spPr>
          <a:xfrm rot="0">
            <a:off x="2783500" y="3709596"/>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Lorem ipsum dolor sit amet, consectetur adipiscing elit. Nullam ornare non nunc eget dictum. Quisque vulputate velit purus.</a:t>
            </a:r>
          </a:p>
        </p:txBody>
      </p:sp>
      <p:sp>
        <p:nvSpPr>
          <p:cNvPr name="TextBox 14" id="14"/>
          <p:cNvSpPr txBox="true"/>
          <p:nvPr/>
        </p:nvSpPr>
        <p:spPr>
          <a:xfrm rot="0">
            <a:off x="2783500" y="5475484"/>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Lorem ipsum dolor sit amet, consectetur adipiscing elit. Nullam ornare non nunc eget dictum. Quisque vulputate velit purus.</a:t>
            </a:r>
          </a:p>
        </p:txBody>
      </p:sp>
      <p:sp>
        <p:nvSpPr>
          <p:cNvPr name="TextBox 15" id="15"/>
          <p:cNvSpPr txBox="true"/>
          <p:nvPr/>
        </p:nvSpPr>
        <p:spPr>
          <a:xfrm rot="0">
            <a:off x="2783500" y="7241372"/>
            <a:ext cx="12721001" cy="1047750"/>
          </a:xfrm>
          <a:prstGeom prst="rect">
            <a:avLst/>
          </a:prstGeom>
        </p:spPr>
        <p:txBody>
          <a:bodyPr anchor="t" rtlCol="false" tIns="0" lIns="0" bIns="0" rIns="0">
            <a:spAutoFit/>
          </a:bodyPr>
          <a:lstStyle/>
          <a:p>
            <a:pPr algn="ctr">
              <a:lnSpc>
                <a:spcPts val="4200"/>
              </a:lnSpc>
            </a:pPr>
            <a:r>
              <a:rPr lang="en-US" sz="3000">
                <a:solidFill>
                  <a:srgbClr val="337271"/>
                </a:solidFill>
                <a:latin typeface="Nunito"/>
                <a:ea typeface="Nunito"/>
                <a:cs typeface="Nunito"/>
                <a:sym typeface="Nunito"/>
              </a:rPr>
              <a:t>Lorem ipsum dolor sit amet, consectetur adipiscing elit. Nullam ornare non nunc eget dictum. Quisque vulputate velit purus.</a:t>
            </a:r>
          </a:p>
        </p:txBody>
      </p:sp>
      <p:sp>
        <p:nvSpPr>
          <p:cNvPr name="Freeform 16" id="16"/>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3406006" y="9057766"/>
            <a:ext cx="4196989" cy="770720"/>
          </a:xfrm>
          <a:custGeom>
            <a:avLst/>
            <a:gdLst/>
            <a:ahLst/>
            <a:cxnLst/>
            <a:rect r="r" b="b" t="t" l="l"/>
            <a:pathLst>
              <a:path h="770720" w="4196989">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grpSp>
        <p:nvGrpSpPr>
          <p:cNvPr name="Group 3" id="3"/>
          <p:cNvGrpSpPr/>
          <p:nvPr/>
        </p:nvGrpSpPr>
        <p:grpSpPr>
          <a:xfrm rot="0">
            <a:off x="4236191" y="3079201"/>
            <a:ext cx="3048375" cy="1125001"/>
            <a:chOff x="0" y="0"/>
            <a:chExt cx="802864" cy="296297"/>
          </a:xfrm>
        </p:grpSpPr>
        <p:sp>
          <p:nvSpPr>
            <p:cNvPr name="Freeform 4" id="4"/>
            <p:cNvSpPr/>
            <p:nvPr/>
          </p:nvSpPr>
          <p:spPr>
            <a:xfrm flipH="false" flipV="false" rot="0">
              <a:off x="0" y="0"/>
              <a:ext cx="802864" cy="296297"/>
            </a:xfrm>
            <a:custGeom>
              <a:avLst/>
              <a:gdLst/>
              <a:ahLst/>
              <a:cxnLst/>
              <a:rect r="r" b="b" t="t" l="l"/>
              <a:pathLst>
                <a:path h="296297" w="802864">
                  <a:moveTo>
                    <a:pt x="0" y="0"/>
                  </a:moveTo>
                  <a:lnTo>
                    <a:pt x="802864" y="0"/>
                  </a:lnTo>
                  <a:lnTo>
                    <a:pt x="802864" y="296297"/>
                  </a:lnTo>
                  <a:lnTo>
                    <a:pt x="0" y="296297"/>
                  </a:lnTo>
                  <a:close/>
                </a:path>
              </a:pathLst>
            </a:custGeom>
            <a:solidFill>
              <a:srgbClr val="337271"/>
            </a:solidFill>
            <a:ln cap="sq">
              <a:noFill/>
              <a:prstDash val="solid"/>
              <a:miter/>
            </a:ln>
          </p:spPr>
        </p:sp>
        <p:sp>
          <p:nvSpPr>
            <p:cNvPr name="TextBox 5" id="5"/>
            <p:cNvSpPr txBox="true"/>
            <p:nvPr/>
          </p:nvSpPr>
          <p:spPr>
            <a:xfrm>
              <a:off x="0" y="-38100"/>
              <a:ext cx="802864" cy="33439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3926249"/>
            <a:ext cx="9463357" cy="3747336"/>
            <a:chOff x="0" y="0"/>
            <a:chExt cx="2492407" cy="986953"/>
          </a:xfrm>
        </p:grpSpPr>
        <p:sp>
          <p:nvSpPr>
            <p:cNvPr name="Freeform 7" id="7"/>
            <p:cNvSpPr/>
            <p:nvPr/>
          </p:nvSpPr>
          <p:spPr>
            <a:xfrm flipH="false" flipV="false" rot="0">
              <a:off x="0" y="0"/>
              <a:ext cx="2492407" cy="986953"/>
            </a:xfrm>
            <a:custGeom>
              <a:avLst/>
              <a:gdLst/>
              <a:ahLst/>
              <a:cxnLst/>
              <a:rect r="r" b="b" t="t" l="l"/>
              <a:pathLst>
                <a:path h="986953" w="2492407">
                  <a:moveTo>
                    <a:pt x="81809" y="0"/>
                  </a:moveTo>
                  <a:lnTo>
                    <a:pt x="2410597" y="0"/>
                  </a:lnTo>
                  <a:cubicBezTo>
                    <a:pt x="2455779" y="0"/>
                    <a:pt x="2492407" y="36627"/>
                    <a:pt x="2492407" y="81809"/>
                  </a:cubicBezTo>
                  <a:lnTo>
                    <a:pt x="2492407" y="905143"/>
                  </a:lnTo>
                  <a:cubicBezTo>
                    <a:pt x="2492407" y="950325"/>
                    <a:pt x="2455779" y="986953"/>
                    <a:pt x="2410597" y="986953"/>
                  </a:cubicBezTo>
                  <a:lnTo>
                    <a:pt x="81809" y="986953"/>
                  </a:lnTo>
                  <a:cubicBezTo>
                    <a:pt x="36627" y="986953"/>
                    <a:pt x="0" y="950325"/>
                    <a:pt x="0" y="905143"/>
                  </a:cubicBezTo>
                  <a:lnTo>
                    <a:pt x="0" y="81809"/>
                  </a:lnTo>
                  <a:cubicBezTo>
                    <a:pt x="0" y="36627"/>
                    <a:pt x="36627" y="0"/>
                    <a:pt x="81809" y="0"/>
                  </a:cubicBezTo>
                  <a:close/>
                </a:path>
              </a:pathLst>
            </a:custGeom>
            <a:solidFill>
              <a:srgbClr val="000000">
                <a:alpha val="0"/>
              </a:srgbClr>
            </a:solidFill>
            <a:ln w="47625" cap="rnd">
              <a:solidFill>
                <a:srgbClr val="337271"/>
              </a:solidFill>
              <a:prstDash val="lgDash"/>
              <a:round/>
            </a:ln>
          </p:spPr>
        </p:sp>
        <p:sp>
          <p:nvSpPr>
            <p:cNvPr name="TextBox 8" id="8"/>
            <p:cNvSpPr txBox="true"/>
            <p:nvPr/>
          </p:nvSpPr>
          <p:spPr>
            <a:xfrm>
              <a:off x="0" y="-38100"/>
              <a:ext cx="2492407" cy="1025053"/>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3169060" y="760287"/>
            <a:ext cx="12469176" cy="1662628"/>
          </a:xfrm>
          <a:prstGeom prst="rect">
            <a:avLst/>
          </a:prstGeom>
        </p:spPr>
        <p:txBody>
          <a:bodyPr anchor="t" rtlCol="false" tIns="0" lIns="0" bIns="0" rIns="0">
            <a:spAutoFit/>
          </a:bodyPr>
          <a:lstStyle/>
          <a:p>
            <a:pPr algn="ctr">
              <a:lnSpc>
                <a:spcPts val="12998"/>
              </a:lnSpc>
            </a:pPr>
            <a:r>
              <a:rPr lang="en-US" sz="9284">
                <a:solidFill>
                  <a:srgbClr val="337271"/>
                </a:solidFill>
                <a:latin typeface="AC Diary Girl"/>
                <a:ea typeface="AC Diary Girl"/>
                <a:cs typeface="AC Diary Girl"/>
                <a:sym typeface="AC Diary Girl"/>
              </a:rPr>
              <a:t>Scientific Principle</a:t>
            </a:r>
          </a:p>
        </p:txBody>
      </p:sp>
      <p:sp>
        <p:nvSpPr>
          <p:cNvPr name="TextBox 10" id="10"/>
          <p:cNvSpPr txBox="true"/>
          <p:nvPr/>
        </p:nvSpPr>
        <p:spPr>
          <a:xfrm rot="0">
            <a:off x="1607037" y="4266645"/>
            <a:ext cx="8311997" cy="4165073"/>
          </a:xfrm>
          <a:prstGeom prst="rect">
            <a:avLst/>
          </a:prstGeom>
        </p:spPr>
        <p:txBody>
          <a:bodyPr anchor="t" rtlCol="false" tIns="0" lIns="0" bIns="0" rIns="0">
            <a:spAutoFit/>
          </a:bodyPr>
          <a:lstStyle/>
          <a:p>
            <a:pPr algn="ctr">
              <a:lnSpc>
                <a:spcPts val="3529"/>
              </a:lnSpc>
            </a:pPr>
            <a:r>
              <a:rPr lang="en-US" sz="2520">
                <a:solidFill>
                  <a:srgbClr val="337271"/>
                </a:solidFill>
                <a:latin typeface="Nunito"/>
                <a:ea typeface="Nunito"/>
                <a:cs typeface="Nunito"/>
                <a:sym typeface="Nunito"/>
              </a:rPr>
              <a:t>The system is based on the magnetic sensing principle using a Reed Switch.</a:t>
            </a:r>
          </a:p>
          <a:p>
            <a:pPr algn="ctr">
              <a:lnSpc>
                <a:spcPts val="3529"/>
              </a:lnSpc>
            </a:pPr>
            <a:r>
              <a:rPr lang="en-US" sz="2520">
                <a:solidFill>
                  <a:srgbClr val="337271"/>
                </a:solidFill>
                <a:latin typeface="Nunito"/>
                <a:ea typeface="Nunito"/>
                <a:cs typeface="Nunito"/>
                <a:sym typeface="Nunito"/>
              </a:rPr>
              <a:t>A Reed Switch is a small glass tube containing two magnetic metal plates (reeds).</a:t>
            </a:r>
          </a:p>
          <a:p>
            <a:pPr algn="ctr">
              <a:lnSpc>
                <a:spcPts val="3949"/>
              </a:lnSpc>
            </a:pPr>
            <a:r>
              <a:rPr lang="en-US" sz="2820">
                <a:solidFill>
                  <a:srgbClr val="337271"/>
                </a:solidFill>
                <a:latin typeface="Nunito"/>
                <a:ea typeface="Nunito"/>
                <a:cs typeface="Nunito"/>
                <a:sym typeface="Nunito"/>
              </a:rPr>
              <a:t>When a magnet is close to the switch, the magnetic field causes the metal reeds to either touch or separate depending on the type of switch.</a:t>
            </a:r>
          </a:p>
          <a:p>
            <a:pPr algn="ctr">
              <a:lnSpc>
                <a:spcPts val="3529"/>
              </a:lnSpc>
            </a:pPr>
          </a:p>
          <a:p>
            <a:pPr algn="ctr">
              <a:lnSpc>
                <a:spcPts val="3529"/>
              </a:lnSpc>
            </a:pPr>
          </a:p>
        </p:txBody>
      </p:sp>
      <p:grpSp>
        <p:nvGrpSpPr>
          <p:cNvPr name="Group 11" id="11"/>
          <p:cNvGrpSpPr/>
          <p:nvPr/>
        </p:nvGrpSpPr>
        <p:grpSpPr>
          <a:xfrm rot="0">
            <a:off x="3858491" y="7753469"/>
            <a:ext cx="10766962" cy="2533531"/>
            <a:chOff x="0" y="0"/>
            <a:chExt cx="2835743" cy="667267"/>
          </a:xfrm>
        </p:grpSpPr>
        <p:sp>
          <p:nvSpPr>
            <p:cNvPr name="Freeform 12" id="12"/>
            <p:cNvSpPr/>
            <p:nvPr/>
          </p:nvSpPr>
          <p:spPr>
            <a:xfrm flipH="false" flipV="false" rot="0">
              <a:off x="0" y="0"/>
              <a:ext cx="2835743" cy="667267"/>
            </a:xfrm>
            <a:custGeom>
              <a:avLst/>
              <a:gdLst/>
              <a:ahLst/>
              <a:cxnLst/>
              <a:rect r="r" b="b" t="t" l="l"/>
              <a:pathLst>
                <a:path h="667267" w="2835743">
                  <a:moveTo>
                    <a:pt x="71904" y="0"/>
                  </a:moveTo>
                  <a:lnTo>
                    <a:pt x="2763839" y="0"/>
                  </a:lnTo>
                  <a:cubicBezTo>
                    <a:pt x="2803551" y="0"/>
                    <a:pt x="2835743" y="32193"/>
                    <a:pt x="2835743" y="71904"/>
                  </a:cubicBezTo>
                  <a:lnTo>
                    <a:pt x="2835743" y="595363"/>
                  </a:lnTo>
                  <a:cubicBezTo>
                    <a:pt x="2835743" y="614433"/>
                    <a:pt x="2828167" y="632722"/>
                    <a:pt x="2814683" y="646207"/>
                  </a:cubicBezTo>
                  <a:cubicBezTo>
                    <a:pt x="2801198" y="659692"/>
                    <a:pt x="2782909" y="667267"/>
                    <a:pt x="2763839" y="667267"/>
                  </a:cubicBezTo>
                  <a:lnTo>
                    <a:pt x="71904" y="667267"/>
                  </a:lnTo>
                  <a:cubicBezTo>
                    <a:pt x="52834" y="667267"/>
                    <a:pt x="34545" y="659692"/>
                    <a:pt x="21060" y="646207"/>
                  </a:cubicBezTo>
                  <a:cubicBezTo>
                    <a:pt x="7576" y="632722"/>
                    <a:pt x="0" y="614433"/>
                    <a:pt x="0" y="595363"/>
                  </a:cubicBezTo>
                  <a:lnTo>
                    <a:pt x="0" y="71904"/>
                  </a:lnTo>
                  <a:cubicBezTo>
                    <a:pt x="0" y="52834"/>
                    <a:pt x="7576" y="34545"/>
                    <a:pt x="21060" y="21060"/>
                  </a:cubicBezTo>
                  <a:cubicBezTo>
                    <a:pt x="34545" y="7576"/>
                    <a:pt x="52834" y="0"/>
                    <a:pt x="71904" y="0"/>
                  </a:cubicBezTo>
                  <a:close/>
                </a:path>
              </a:pathLst>
            </a:custGeom>
            <a:solidFill>
              <a:srgbClr val="000000">
                <a:alpha val="0"/>
              </a:srgbClr>
            </a:solidFill>
            <a:ln w="47625" cap="rnd">
              <a:solidFill>
                <a:srgbClr val="337271"/>
              </a:solidFill>
              <a:prstDash val="lgDash"/>
              <a:round/>
            </a:ln>
          </p:spPr>
        </p:sp>
        <p:sp>
          <p:nvSpPr>
            <p:cNvPr name="TextBox 13" id="13"/>
            <p:cNvSpPr txBox="true"/>
            <p:nvPr/>
          </p:nvSpPr>
          <p:spPr>
            <a:xfrm>
              <a:off x="0" y="-38100"/>
              <a:ext cx="2835743" cy="70536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3389424" y="2938720"/>
            <a:ext cx="2248812" cy="1125001"/>
            <a:chOff x="0" y="0"/>
            <a:chExt cx="592280" cy="296297"/>
          </a:xfrm>
        </p:grpSpPr>
        <p:sp>
          <p:nvSpPr>
            <p:cNvPr name="Freeform 15" id="15"/>
            <p:cNvSpPr/>
            <p:nvPr/>
          </p:nvSpPr>
          <p:spPr>
            <a:xfrm flipH="false" flipV="false" rot="0">
              <a:off x="0" y="0"/>
              <a:ext cx="592280" cy="296297"/>
            </a:xfrm>
            <a:custGeom>
              <a:avLst/>
              <a:gdLst/>
              <a:ahLst/>
              <a:cxnLst/>
              <a:rect r="r" b="b" t="t" l="l"/>
              <a:pathLst>
                <a:path h="296297" w="592280">
                  <a:moveTo>
                    <a:pt x="0" y="0"/>
                  </a:moveTo>
                  <a:lnTo>
                    <a:pt x="592280" y="0"/>
                  </a:lnTo>
                  <a:lnTo>
                    <a:pt x="592280" y="296297"/>
                  </a:lnTo>
                  <a:lnTo>
                    <a:pt x="0" y="296297"/>
                  </a:lnTo>
                  <a:close/>
                </a:path>
              </a:pathLst>
            </a:custGeom>
            <a:solidFill>
              <a:srgbClr val="337271"/>
            </a:solidFill>
            <a:ln cap="sq">
              <a:noFill/>
              <a:prstDash val="solid"/>
              <a:miter/>
            </a:ln>
          </p:spPr>
        </p:sp>
        <p:sp>
          <p:nvSpPr>
            <p:cNvPr name="TextBox 16" id="16"/>
            <p:cNvSpPr txBox="true"/>
            <p:nvPr/>
          </p:nvSpPr>
          <p:spPr>
            <a:xfrm>
              <a:off x="0" y="-38100"/>
              <a:ext cx="592280" cy="334397"/>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10941195" y="3895945"/>
            <a:ext cx="6641112" cy="3529711"/>
            <a:chOff x="0" y="0"/>
            <a:chExt cx="1749100" cy="929636"/>
          </a:xfrm>
        </p:grpSpPr>
        <p:sp>
          <p:nvSpPr>
            <p:cNvPr name="Freeform 18" id="18"/>
            <p:cNvSpPr/>
            <p:nvPr/>
          </p:nvSpPr>
          <p:spPr>
            <a:xfrm flipH="false" flipV="false" rot="0">
              <a:off x="0" y="0"/>
              <a:ext cx="1749100" cy="929636"/>
            </a:xfrm>
            <a:custGeom>
              <a:avLst/>
              <a:gdLst/>
              <a:ahLst/>
              <a:cxnLst/>
              <a:rect r="r" b="b" t="t" l="l"/>
              <a:pathLst>
                <a:path h="929636" w="1749100">
                  <a:moveTo>
                    <a:pt x="116576" y="0"/>
                  </a:moveTo>
                  <a:lnTo>
                    <a:pt x="1632524" y="0"/>
                  </a:lnTo>
                  <a:cubicBezTo>
                    <a:pt x="1696907" y="0"/>
                    <a:pt x="1749100" y="52193"/>
                    <a:pt x="1749100" y="116576"/>
                  </a:cubicBezTo>
                  <a:lnTo>
                    <a:pt x="1749100" y="813060"/>
                  </a:lnTo>
                  <a:cubicBezTo>
                    <a:pt x="1749100" y="877443"/>
                    <a:pt x="1696907" y="929636"/>
                    <a:pt x="1632524" y="929636"/>
                  </a:cubicBezTo>
                  <a:lnTo>
                    <a:pt x="116576" y="929636"/>
                  </a:lnTo>
                  <a:cubicBezTo>
                    <a:pt x="52193" y="929636"/>
                    <a:pt x="0" y="877443"/>
                    <a:pt x="0" y="813060"/>
                  </a:cubicBezTo>
                  <a:lnTo>
                    <a:pt x="0" y="116576"/>
                  </a:lnTo>
                  <a:cubicBezTo>
                    <a:pt x="0" y="52193"/>
                    <a:pt x="52193" y="0"/>
                    <a:pt x="116576" y="0"/>
                  </a:cubicBezTo>
                  <a:close/>
                </a:path>
              </a:pathLst>
            </a:custGeom>
            <a:solidFill>
              <a:srgbClr val="000000">
                <a:alpha val="0"/>
              </a:srgbClr>
            </a:solidFill>
            <a:ln w="47625" cap="rnd">
              <a:solidFill>
                <a:srgbClr val="337271"/>
              </a:solidFill>
              <a:prstDash val="lgDash"/>
              <a:round/>
            </a:ln>
          </p:spPr>
        </p:sp>
        <p:sp>
          <p:nvSpPr>
            <p:cNvPr name="TextBox 19" id="19"/>
            <p:cNvSpPr txBox="true"/>
            <p:nvPr/>
          </p:nvSpPr>
          <p:spPr>
            <a:xfrm>
              <a:off x="0" y="-114300"/>
              <a:ext cx="1749100" cy="1043936"/>
            </a:xfrm>
            <a:prstGeom prst="rect">
              <a:avLst/>
            </a:prstGeom>
          </p:spPr>
          <p:txBody>
            <a:bodyPr anchor="ctr" rtlCol="false" tIns="50800" lIns="50800" bIns="50800" rIns="50800"/>
            <a:lstStyle/>
            <a:p>
              <a:pPr algn="ctr">
                <a:lnSpc>
                  <a:spcPts val="8539"/>
                </a:lnSpc>
              </a:pPr>
            </a:p>
          </p:txBody>
        </p:sp>
      </p:grpSp>
      <p:sp>
        <p:nvSpPr>
          <p:cNvPr name="TextBox 20" id="20"/>
          <p:cNvSpPr txBox="true"/>
          <p:nvPr/>
        </p:nvSpPr>
        <p:spPr>
          <a:xfrm rot="0">
            <a:off x="4565667" y="3119414"/>
            <a:ext cx="2389423" cy="901700"/>
          </a:xfrm>
          <a:prstGeom prst="rect">
            <a:avLst/>
          </a:prstGeom>
        </p:spPr>
        <p:txBody>
          <a:bodyPr anchor="t" rtlCol="false" tIns="0" lIns="0" bIns="0" rIns="0">
            <a:spAutoFit/>
          </a:bodyPr>
          <a:lstStyle/>
          <a:p>
            <a:pPr algn="ctr">
              <a:lnSpc>
                <a:spcPts val="7000"/>
              </a:lnSpc>
            </a:pPr>
            <a:r>
              <a:rPr lang="en-US" sz="5000">
                <a:solidFill>
                  <a:srgbClr val="FFFFFF"/>
                </a:solidFill>
                <a:latin typeface="AC Diary Girl"/>
                <a:ea typeface="AC Diary Girl"/>
                <a:cs typeface="AC Diary Girl"/>
                <a:sym typeface="AC Diary Girl"/>
              </a:rPr>
              <a:t>1</a:t>
            </a:r>
          </a:p>
        </p:txBody>
      </p:sp>
      <p:sp>
        <p:nvSpPr>
          <p:cNvPr name="TextBox 21" id="21"/>
          <p:cNvSpPr txBox="true"/>
          <p:nvPr/>
        </p:nvSpPr>
        <p:spPr>
          <a:xfrm rot="0">
            <a:off x="13593533" y="2978933"/>
            <a:ext cx="2044703" cy="918467"/>
          </a:xfrm>
          <a:prstGeom prst="rect">
            <a:avLst/>
          </a:prstGeom>
        </p:spPr>
        <p:txBody>
          <a:bodyPr anchor="t" rtlCol="false" tIns="0" lIns="0" bIns="0" rIns="0">
            <a:spAutoFit/>
          </a:bodyPr>
          <a:lstStyle/>
          <a:p>
            <a:pPr algn="ctr">
              <a:lnSpc>
                <a:spcPts val="7154"/>
              </a:lnSpc>
            </a:pPr>
            <a:r>
              <a:rPr lang="en-US" sz="5110">
                <a:solidFill>
                  <a:srgbClr val="FFFFFF"/>
                </a:solidFill>
                <a:latin typeface="AC Diary Girl"/>
                <a:ea typeface="AC Diary Girl"/>
                <a:cs typeface="AC Diary Girl"/>
                <a:sym typeface="AC Diary Girl"/>
              </a:rPr>
              <a:t>2</a:t>
            </a:r>
          </a:p>
        </p:txBody>
      </p:sp>
      <p:sp>
        <p:nvSpPr>
          <p:cNvPr name="Freeform 22" id="22"/>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11252567" y="4531901"/>
            <a:ext cx="6168236" cy="1974665"/>
          </a:xfrm>
          <a:prstGeom prst="rect">
            <a:avLst/>
          </a:prstGeom>
        </p:spPr>
        <p:txBody>
          <a:bodyPr anchor="t" rtlCol="false" tIns="0" lIns="0" bIns="0" rIns="0">
            <a:spAutoFit/>
          </a:bodyPr>
          <a:lstStyle/>
          <a:p>
            <a:pPr algn="ctr">
              <a:lnSpc>
                <a:spcPts val="3975"/>
              </a:lnSpc>
              <a:spcBef>
                <a:spcPct val="0"/>
              </a:spcBef>
            </a:pPr>
            <a:r>
              <a:rPr lang="en-US" sz="2839">
                <a:solidFill>
                  <a:srgbClr val="337271"/>
                </a:solidFill>
                <a:latin typeface="Canva Sans"/>
                <a:ea typeface="Canva Sans"/>
                <a:cs typeface="Canva Sans"/>
                <a:sym typeface="Canva Sans"/>
              </a:rPr>
              <a:t>In this project, we use the type that opens the circuit when the magnet is near, and closes it when the magnet moves away.</a:t>
            </a:r>
          </a:p>
        </p:txBody>
      </p:sp>
      <p:sp>
        <p:nvSpPr>
          <p:cNvPr name="TextBox 24" id="24"/>
          <p:cNvSpPr txBox="true"/>
          <p:nvPr/>
        </p:nvSpPr>
        <p:spPr>
          <a:xfrm rot="0">
            <a:off x="5066687" y="7787885"/>
            <a:ext cx="9019331" cy="2384394"/>
          </a:xfrm>
          <a:prstGeom prst="rect">
            <a:avLst/>
          </a:prstGeom>
        </p:spPr>
        <p:txBody>
          <a:bodyPr anchor="t" rtlCol="false" tIns="0" lIns="0" bIns="0" rIns="0">
            <a:spAutoFit/>
          </a:bodyPr>
          <a:lstStyle/>
          <a:p>
            <a:pPr algn="ctr">
              <a:lnSpc>
                <a:spcPts val="3121"/>
              </a:lnSpc>
              <a:spcBef>
                <a:spcPct val="0"/>
              </a:spcBef>
            </a:pPr>
            <a:r>
              <a:rPr lang="en-US" sz="2229">
                <a:solidFill>
                  <a:srgbClr val="000000"/>
                </a:solidFill>
                <a:latin typeface="Canva Sans"/>
                <a:ea typeface="Canva Sans"/>
                <a:cs typeface="Canva Sans"/>
                <a:sym typeface="Canva Sans"/>
              </a:rPr>
              <a:t>So:</a:t>
            </a:r>
          </a:p>
          <a:p>
            <a:pPr algn="ctr">
              <a:lnSpc>
                <a:spcPts val="3121"/>
              </a:lnSpc>
              <a:spcBef>
                <a:spcPct val="0"/>
              </a:spcBef>
            </a:pPr>
            <a:r>
              <a:rPr lang="en-US" sz="2229">
                <a:solidFill>
                  <a:srgbClr val="000000"/>
                </a:solidFill>
                <a:latin typeface="Canva Sans"/>
                <a:ea typeface="Canva Sans"/>
                <a:cs typeface="Canva Sans"/>
                <a:sym typeface="Canva Sans"/>
              </a:rPr>
              <a:t>🔒 Door Closed → Magnet near → Circuit open → Alarm OFF</a:t>
            </a:r>
          </a:p>
          <a:p>
            <a:pPr algn="ctr">
              <a:lnSpc>
                <a:spcPts val="3121"/>
              </a:lnSpc>
              <a:spcBef>
                <a:spcPct val="0"/>
              </a:spcBef>
            </a:pPr>
            <a:r>
              <a:rPr lang="en-US" sz="2229">
                <a:solidFill>
                  <a:srgbClr val="000000"/>
                </a:solidFill>
                <a:latin typeface="Canva Sans"/>
                <a:ea typeface="Canva Sans"/>
                <a:cs typeface="Canva Sans"/>
                <a:sym typeface="Canva Sans"/>
              </a:rPr>
              <a:t>🚪 Door Open → Magnet far → Circuit closed → Alarm ON</a:t>
            </a:r>
          </a:p>
          <a:p>
            <a:pPr algn="ctr">
              <a:lnSpc>
                <a:spcPts val="3121"/>
              </a:lnSpc>
              <a:spcBef>
                <a:spcPct val="0"/>
              </a:spcBef>
            </a:pPr>
          </a:p>
          <a:p>
            <a:pPr algn="ctr">
              <a:lnSpc>
                <a:spcPts val="3257"/>
              </a:lnSpc>
              <a:spcBef>
                <a:spcPct val="0"/>
              </a:spcBef>
            </a:pPr>
            <a:r>
              <a:rPr lang="en-US" sz="2326">
                <a:solidFill>
                  <a:srgbClr val="000000"/>
                </a:solidFill>
                <a:latin typeface="Canva Sans"/>
                <a:ea typeface="Canva Sans"/>
                <a:cs typeface="Canva Sans"/>
                <a:sym typeface="Canva Sans"/>
              </a:rPr>
              <a:t>This behavior makes it ideal for use as a door alarm or entry detector.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true" flipV="false" rot="0">
            <a:off x="14465408" y="8640055"/>
            <a:ext cx="3551363" cy="1646945"/>
          </a:xfrm>
          <a:custGeom>
            <a:avLst/>
            <a:gdLst/>
            <a:ahLst/>
            <a:cxnLst/>
            <a:rect r="r" b="b" t="t" l="l"/>
            <a:pathLst>
              <a:path h="1646945" w="3551363">
                <a:moveTo>
                  <a:pt x="3551363" y="0"/>
                </a:moveTo>
                <a:lnTo>
                  <a:pt x="0" y="0"/>
                </a:lnTo>
                <a:lnTo>
                  <a:pt x="0" y="1646945"/>
                </a:lnTo>
                <a:lnTo>
                  <a:pt x="3551363" y="1646945"/>
                </a:lnTo>
                <a:lnTo>
                  <a:pt x="355136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46982" y="1028700"/>
            <a:ext cx="3551363" cy="1646945"/>
          </a:xfrm>
          <a:custGeom>
            <a:avLst/>
            <a:gdLst/>
            <a:ahLst/>
            <a:cxnLst/>
            <a:rect r="r" b="b" t="t" l="l"/>
            <a:pathLst>
              <a:path h="1646945" w="3551363">
                <a:moveTo>
                  <a:pt x="0" y="0"/>
                </a:moveTo>
                <a:lnTo>
                  <a:pt x="3551364" y="0"/>
                </a:lnTo>
                <a:lnTo>
                  <a:pt x="3551364" y="1646945"/>
                </a:lnTo>
                <a:lnTo>
                  <a:pt x="0" y="16469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0" y="2914707"/>
            <a:ext cx="17259300" cy="5410085"/>
          </a:xfrm>
          <a:prstGeom prst="rect">
            <a:avLst/>
          </a:prstGeom>
        </p:spPr>
        <p:txBody>
          <a:bodyPr anchor="t" rtlCol="false" tIns="0" lIns="0" bIns="0" rIns="0">
            <a:spAutoFit/>
          </a:bodyPr>
          <a:lstStyle/>
          <a:p>
            <a:pPr algn="ctr">
              <a:lnSpc>
                <a:spcPts val="5908"/>
              </a:lnSpc>
              <a:spcBef>
                <a:spcPct val="0"/>
              </a:spcBef>
            </a:pPr>
          </a:p>
          <a:p>
            <a:pPr algn="ctr">
              <a:lnSpc>
                <a:spcPts val="4353"/>
              </a:lnSpc>
              <a:spcBef>
                <a:spcPct val="0"/>
              </a:spcBef>
            </a:pPr>
            <a:r>
              <a:rPr lang="en-US" b="true" sz="3109">
                <a:solidFill>
                  <a:srgbClr val="337271"/>
                </a:solidFill>
                <a:latin typeface="Canva Sans Bold"/>
                <a:ea typeface="Canva Sans Bold"/>
                <a:cs typeface="Canva Sans Bold"/>
                <a:sym typeface="Canva Sans Bold"/>
              </a:rPr>
              <a:t>Magnet</a:t>
            </a:r>
            <a:r>
              <a:rPr lang="en-US" sz="3109">
                <a:solidFill>
                  <a:srgbClr val="337271"/>
                </a:solidFill>
                <a:latin typeface="Canva Sans"/>
                <a:ea typeface="Canva Sans"/>
                <a:cs typeface="Canva Sans"/>
                <a:sym typeface="Canva Sans"/>
              </a:rPr>
              <a:t> Creates a magnetic field; attached to the door.</a:t>
            </a:r>
          </a:p>
          <a:p>
            <a:pPr algn="ctr">
              <a:lnSpc>
                <a:spcPts val="2954"/>
              </a:lnSpc>
              <a:spcBef>
                <a:spcPct val="0"/>
              </a:spcBef>
            </a:pPr>
          </a:p>
          <a:p>
            <a:pPr algn="ctr">
              <a:lnSpc>
                <a:spcPts val="4353"/>
              </a:lnSpc>
              <a:spcBef>
                <a:spcPct val="0"/>
              </a:spcBef>
            </a:pPr>
            <a:r>
              <a:rPr lang="en-US" sz="3109">
                <a:solidFill>
                  <a:srgbClr val="337271"/>
                </a:solidFill>
                <a:latin typeface="Canva Sans"/>
                <a:ea typeface="Canva Sans"/>
                <a:cs typeface="Canva Sans"/>
                <a:sym typeface="Canva Sans"/>
              </a:rPr>
              <a:t>           </a:t>
            </a:r>
            <a:r>
              <a:rPr lang="en-US" b="true" sz="3109">
                <a:solidFill>
                  <a:srgbClr val="337271"/>
                </a:solidFill>
                <a:latin typeface="Canva Sans Bold"/>
                <a:ea typeface="Canva Sans Bold"/>
                <a:cs typeface="Canva Sans Bold"/>
                <a:sym typeface="Canva Sans Bold"/>
              </a:rPr>
              <a:t>Reed Switch</a:t>
            </a:r>
            <a:r>
              <a:rPr lang="en-US" sz="3109">
                <a:solidFill>
                  <a:srgbClr val="337271"/>
                </a:solidFill>
                <a:latin typeface="Canva Sans"/>
                <a:ea typeface="Canva Sans"/>
                <a:cs typeface="Canva Sans"/>
                <a:sym typeface="Canva Sans"/>
              </a:rPr>
              <a:t> Detects the presence or absence of the magnet ;</a:t>
            </a:r>
          </a:p>
          <a:p>
            <a:pPr algn="ctr">
              <a:lnSpc>
                <a:spcPts val="4353"/>
              </a:lnSpc>
              <a:spcBef>
                <a:spcPct val="0"/>
              </a:spcBef>
            </a:pPr>
            <a:r>
              <a:rPr lang="en-US" sz="3109">
                <a:solidFill>
                  <a:srgbClr val="337271"/>
                </a:solidFill>
                <a:latin typeface="Canva Sans"/>
                <a:ea typeface="Canva Sans"/>
                <a:cs typeface="Canva Sans"/>
                <a:sym typeface="Canva Sans"/>
              </a:rPr>
              <a:t> attached to the door frame.</a:t>
            </a:r>
          </a:p>
          <a:p>
            <a:pPr algn="ctr">
              <a:lnSpc>
                <a:spcPts val="4353"/>
              </a:lnSpc>
              <a:spcBef>
                <a:spcPct val="0"/>
              </a:spcBef>
            </a:pPr>
            <a:r>
              <a:rPr lang="en-US" sz="3109">
                <a:solidFill>
                  <a:srgbClr val="337271"/>
                </a:solidFill>
                <a:latin typeface="Canva Sans"/>
                <a:ea typeface="Canva Sans"/>
                <a:cs typeface="Canva Sans"/>
                <a:sym typeface="Canva Sans"/>
              </a:rPr>
              <a:t>      </a:t>
            </a:r>
            <a:r>
              <a:rPr lang="en-US" b="true" sz="3109">
                <a:solidFill>
                  <a:srgbClr val="337271"/>
                </a:solidFill>
                <a:latin typeface="Canva Sans Bold"/>
                <a:ea typeface="Canva Sans Bold"/>
                <a:cs typeface="Canva Sans Bold"/>
                <a:sym typeface="Canva Sans Bold"/>
              </a:rPr>
              <a:t>Battery (9V or 3V)</a:t>
            </a:r>
            <a:r>
              <a:rPr lang="en-US" sz="3109">
                <a:solidFill>
                  <a:srgbClr val="337271"/>
                </a:solidFill>
                <a:latin typeface="Canva Sans"/>
                <a:ea typeface="Canva Sans"/>
                <a:cs typeface="Canva Sans"/>
                <a:sym typeface="Canva Sans"/>
              </a:rPr>
              <a:t> </a:t>
            </a:r>
            <a:r>
              <a:rPr lang="en-US" sz="3109">
                <a:solidFill>
                  <a:srgbClr val="337271"/>
                </a:solidFill>
                <a:latin typeface="Canva Sans"/>
                <a:ea typeface="Canva Sans"/>
                <a:cs typeface="Canva Sans"/>
                <a:sym typeface="Canva Sans"/>
              </a:rPr>
              <a:t> Provides electrical power to the circuit.</a:t>
            </a:r>
          </a:p>
          <a:p>
            <a:pPr algn="ctr">
              <a:lnSpc>
                <a:spcPts val="4353"/>
              </a:lnSpc>
              <a:spcBef>
                <a:spcPct val="0"/>
              </a:spcBef>
            </a:pPr>
            <a:r>
              <a:rPr lang="en-US" sz="3109">
                <a:solidFill>
                  <a:srgbClr val="337271"/>
                </a:solidFill>
                <a:latin typeface="Canva Sans"/>
                <a:ea typeface="Canva Sans"/>
                <a:cs typeface="Canva Sans"/>
                <a:sym typeface="Canva Sans"/>
              </a:rPr>
              <a:t>                    </a:t>
            </a:r>
            <a:r>
              <a:rPr lang="en-US" b="true" sz="3109">
                <a:solidFill>
                  <a:srgbClr val="337271"/>
                </a:solidFill>
                <a:latin typeface="Canva Sans Bold"/>
                <a:ea typeface="Canva Sans Bold"/>
                <a:cs typeface="Canva Sans Bold"/>
                <a:sym typeface="Canva Sans Bold"/>
              </a:rPr>
              <a:t>Buzzer or LED</a:t>
            </a:r>
            <a:r>
              <a:rPr lang="en-US" sz="3109">
                <a:solidFill>
                  <a:srgbClr val="337271"/>
                </a:solidFill>
                <a:latin typeface="Canva Sans"/>
                <a:ea typeface="Canva Sans"/>
                <a:cs typeface="Canva Sans"/>
                <a:sym typeface="Canva Sans"/>
              </a:rPr>
              <a:t>  </a:t>
            </a:r>
            <a:r>
              <a:rPr lang="en-US" sz="3109">
                <a:solidFill>
                  <a:srgbClr val="337271"/>
                </a:solidFill>
                <a:latin typeface="Canva Sans"/>
                <a:ea typeface="Canva Sans"/>
                <a:cs typeface="Canva Sans"/>
                <a:sym typeface="Canva Sans"/>
              </a:rPr>
              <a:t>Produces the alarm (sound or light) when triggered.</a:t>
            </a:r>
          </a:p>
          <a:p>
            <a:pPr algn="ctr">
              <a:lnSpc>
                <a:spcPts val="4042"/>
              </a:lnSpc>
              <a:spcBef>
                <a:spcPct val="0"/>
              </a:spcBef>
            </a:pPr>
            <a:r>
              <a:rPr lang="en-US" sz="2887">
                <a:solidFill>
                  <a:srgbClr val="337271"/>
                </a:solidFill>
                <a:latin typeface="Canva Sans"/>
                <a:ea typeface="Canva Sans"/>
                <a:cs typeface="Canva Sans"/>
                <a:sym typeface="Canva Sans"/>
              </a:rPr>
              <a:t>                  </a:t>
            </a:r>
            <a:r>
              <a:rPr lang="en-US" b="true" sz="2887">
                <a:solidFill>
                  <a:srgbClr val="337271"/>
                </a:solidFill>
                <a:latin typeface="Canva Sans Bold"/>
                <a:ea typeface="Canva Sans Bold"/>
                <a:cs typeface="Canva Sans Bold"/>
                <a:sym typeface="Canva Sans Bold"/>
              </a:rPr>
              <a:t>Resistor (220Ω): </a:t>
            </a:r>
            <a:r>
              <a:rPr lang="en-US" sz="2887">
                <a:solidFill>
                  <a:srgbClr val="337271"/>
                </a:solidFill>
                <a:latin typeface="Canva Sans"/>
                <a:ea typeface="Canva Sans"/>
                <a:cs typeface="Canva Sans"/>
                <a:sym typeface="Canva Sans"/>
              </a:rPr>
              <a:t>Protects the LED from excess current (if LED is used).</a:t>
            </a:r>
          </a:p>
          <a:p>
            <a:pPr algn="ctr">
              <a:lnSpc>
                <a:spcPts val="4042"/>
              </a:lnSpc>
              <a:spcBef>
                <a:spcPct val="0"/>
              </a:spcBef>
            </a:pPr>
            <a:r>
              <a:rPr lang="en-US" b="true" sz="2887">
                <a:solidFill>
                  <a:srgbClr val="337271"/>
                </a:solidFill>
                <a:latin typeface="Canva Sans Bold"/>
                <a:ea typeface="Canva Sans Bold"/>
                <a:cs typeface="Canva Sans Bold"/>
                <a:sym typeface="Canva Sans Bold"/>
              </a:rPr>
              <a:t>Connecting Wires</a:t>
            </a:r>
            <a:r>
              <a:rPr lang="en-US" sz="2887">
                <a:solidFill>
                  <a:srgbClr val="337271"/>
                </a:solidFill>
                <a:latin typeface="Canva Sans"/>
                <a:ea typeface="Canva Sans"/>
                <a:cs typeface="Canva Sans"/>
                <a:sym typeface="Canva Sans"/>
              </a:rPr>
              <a:t>  </a:t>
            </a:r>
            <a:r>
              <a:rPr lang="en-US" sz="2887">
                <a:solidFill>
                  <a:srgbClr val="337271"/>
                </a:solidFill>
                <a:latin typeface="Canva Sans"/>
                <a:ea typeface="Canva Sans"/>
                <a:cs typeface="Canva Sans"/>
                <a:sym typeface="Canva Sans"/>
              </a:rPr>
              <a:t>Connect all components together.                </a:t>
            </a:r>
          </a:p>
          <a:p>
            <a:pPr algn="ctr">
              <a:lnSpc>
                <a:spcPts val="4353"/>
              </a:lnSpc>
              <a:spcBef>
                <a:spcPct val="0"/>
              </a:spcBef>
            </a:pPr>
            <a:r>
              <a:rPr lang="en-US" sz="3109">
                <a:solidFill>
                  <a:srgbClr val="337271"/>
                </a:solidFill>
                <a:latin typeface="Canva Sans"/>
                <a:ea typeface="Canva Sans"/>
                <a:cs typeface="Canva Sans"/>
                <a:sym typeface="Canva Sans"/>
              </a:rPr>
              <a:t>      </a:t>
            </a:r>
            <a:r>
              <a:rPr lang="en-US" b="true" sz="3109">
                <a:solidFill>
                  <a:srgbClr val="337271"/>
                </a:solidFill>
                <a:latin typeface="Canva Sans Bold"/>
                <a:ea typeface="Canva Sans Bold"/>
                <a:cs typeface="Canva Sans Bold"/>
                <a:sym typeface="Canva Sans Bold"/>
              </a:rPr>
              <a:t>Glue or Tape </a:t>
            </a:r>
            <a:r>
              <a:rPr lang="en-US" sz="3109">
                <a:solidFill>
                  <a:srgbClr val="337271"/>
                </a:solidFill>
                <a:latin typeface="Canva Sans"/>
                <a:ea typeface="Canva Sans"/>
                <a:cs typeface="Canva Sans"/>
                <a:sym typeface="Canva Sans"/>
              </a:rPr>
              <a:t>Used to fix components on the door and frame.</a:t>
            </a:r>
          </a:p>
        </p:txBody>
      </p:sp>
      <p:sp>
        <p:nvSpPr>
          <p:cNvPr name="TextBox 6" id="6"/>
          <p:cNvSpPr txBox="true"/>
          <p:nvPr/>
        </p:nvSpPr>
        <p:spPr>
          <a:xfrm rot="0">
            <a:off x="4942812" y="1101654"/>
            <a:ext cx="8705374" cy="1144101"/>
          </a:xfrm>
          <a:prstGeom prst="rect">
            <a:avLst/>
          </a:prstGeom>
        </p:spPr>
        <p:txBody>
          <a:bodyPr anchor="t" rtlCol="false" tIns="0" lIns="0" bIns="0" rIns="0">
            <a:spAutoFit/>
          </a:bodyPr>
          <a:lstStyle/>
          <a:p>
            <a:pPr algn="ctr">
              <a:lnSpc>
                <a:spcPts val="9389"/>
              </a:lnSpc>
              <a:spcBef>
                <a:spcPct val="0"/>
              </a:spcBef>
            </a:pPr>
            <a:r>
              <a:rPr lang="en-US" sz="6706" i="true">
                <a:solidFill>
                  <a:srgbClr val="337271"/>
                </a:solidFill>
                <a:latin typeface="Canva Sans Italics"/>
                <a:ea typeface="Canva Sans Italics"/>
                <a:cs typeface="Canva Sans Italics"/>
                <a:sym typeface="Canva Sans Italics"/>
              </a:rPr>
              <a:t>Component Function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4046863" y="2085582"/>
            <a:ext cx="7831004" cy="1454298"/>
          </a:xfrm>
          <a:prstGeom prst="rect">
            <a:avLst/>
          </a:prstGeom>
        </p:spPr>
        <p:txBody>
          <a:bodyPr anchor="t" rtlCol="false" tIns="0" lIns="0" bIns="0" rIns="0">
            <a:spAutoFit/>
          </a:bodyPr>
          <a:lstStyle/>
          <a:p>
            <a:pPr algn="ctr">
              <a:lnSpc>
                <a:spcPts val="11347"/>
              </a:lnSpc>
            </a:pPr>
            <a:r>
              <a:rPr lang="en-US" sz="8105">
                <a:solidFill>
                  <a:srgbClr val="337271"/>
                </a:solidFill>
                <a:latin typeface="AC Diary Girl"/>
                <a:ea typeface="AC Diary Girl"/>
                <a:cs typeface="AC Diary Girl"/>
                <a:sym typeface="AC Diary Girl"/>
              </a:rPr>
              <a:t>Conclusion</a:t>
            </a:r>
          </a:p>
        </p:txBody>
      </p:sp>
      <p:sp>
        <p:nvSpPr>
          <p:cNvPr name="Freeform 4" id="4"/>
          <p:cNvSpPr/>
          <p:nvPr/>
        </p:nvSpPr>
        <p:spPr>
          <a:xfrm flipH="false" flipV="false" rot="0">
            <a:off x="15533991" y="6870677"/>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25143" y="-389831"/>
            <a:ext cx="2977619" cy="4114800"/>
          </a:xfrm>
          <a:custGeom>
            <a:avLst/>
            <a:gdLst/>
            <a:ahLst/>
            <a:cxnLst/>
            <a:rect r="r" b="b" t="t" l="l"/>
            <a:pathLst>
              <a:path h="4114800" w="2977619">
                <a:moveTo>
                  <a:pt x="0" y="0"/>
                </a:moveTo>
                <a:lnTo>
                  <a:pt x="2977619" y="0"/>
                </a:lnTo>
                <a:lnTo>
                  <a:pt x="2977619"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36521" y="4600892"/>
            <a:ext cx="18151479" cy="2306550"/>
          </a:xfrm>
          <a:prstGeom prst="rect">
            <a:avLst/>
          </a:prstGeom>
        </p:spPr>
        <p:txBody>
          <a:bodyPr anchor="t" rtlCol="false" tIns="0" lIns="0" bIns="0" rIns="0">
            <a:spAutoFit/>
          </a:bodyPr>
          <a:lstStyle/>
          <a:p>
            <a:pPr algn="ctr">
              <a:lnSpc>
                <a:spcPts val="4642"/>
              </a:lnSpc>
              <a:spcBef>
                <a:spcPct val="0"/>
              </a:spcBef>
            </a:pPr>
            <a:r>
              <a:rPr lang="en-US" sz="3315">
                <a:solidFill>
                  <a:srgbClr val="337271"/>
                </a:solidFill>
                <a:latin typeface="Canva Sans"/>
                <a:ea typeface="Canva Sans"/>
                <a:cs typeface="Canva Sans"/>
                <a:sym typeface="Canva Sans"/>
              </a:rPr>
              <a:t>This project demonstrates the working of a simple automatic door alarm using a magnetic sensor. It is an easy, low-cost, and practical application of basic electronics. The same concept can be improved in the future by adding features like wireless alerts, microcontroller integration, or smartphone notifications.</a:t>
            </a:r>
          </a:p>
        </p:txBody>
      </p:sp>
    </p:spTree>
  </p:cSld>
  <p:clrMapOvr>
    <a:masterClrMapping/>
  </p:clrMapOvr>
  <p:transition spd="fast">
    <p:cover dir="d"/>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TextBox 3" id="3"/>
          <p:cNvSpPr txBox="true"/>
          <p:nvPr/>
        </p:nvSpPr>
        <p:spPr>
          <a:xfrm rot="0">
            <a:off x="6465218" y="3200400"/>
            <a:ext cx="8695587" cy="4038600"/>
          </a:xfrm>
          <a:prstGeom prst="rect">
            <a:avLst/>
          </a:prstGeom>
        </p:spPr>
        <p:txBody>
          <a:bodyPr anchor="t" rtlCol="false" tIns="0" lIns="0" bIns="0" rIns="0">
            <a:spAutoFit/>
          </a:bodyPr>
          <a:lstStyle/>
          <a:p>
            <a:pPr algn="ctr">
              <a:lnSpc>
                <a:spcPts val="15000"/>
              </a:lnSpc>
            </a:pPr>
            <a:r>
              <a:rPr lang="en-US" sz="15000">
                <a:solidFill>
                  <a:srgbClr val="337271"/>
                </a:solidFill>
                <a:latin typeface="AC Diary Girl"/>
                <a:ea typeface="AC Diary Girl"/>
                <a:cs typeface="AC Diary Girl"/>
                <a:sym typeface="AC Diary Girl"/>
              </a:rPr>
              <a:t>Thank You</a:t>
            </a:r>
          </a:p>
        </p:txBody>
      </p:sp>
      <p:sp>
        <p:nvSpPr>
          <p:cNvPr name="Freeform 4" id="4"/>
          <p:cNvSpPr/>
          <p:nvPr/>
        </p:nvSpPr>
        <p:spPr>
          <a:xfrm flipH="false" flipV="false" rot="0">
            <a:off x="-334072" y="-1475968"/>
            <a:ext cx="3808435" cy="4114800"/>
          </a:xfrm>
          <a:custGeom>
            <a:avLst/>
            <a:gdLst/>
            <a:ahLst/>
            <a:cxnLst/>
            <a:rect r="r" b="b" t="t" l="l"/>
            <a:pathLst>
              <a:path h="4114800" w="3808435">
                <a:moveTo>
                  <a:pt x="0" y="0"/>
                </a:moveTo>
                <a:lnTo>
                  <a:pt x="3808435" y="0"/>
                </a:lnTo>
                <a:lnTo>
                  <a:pt x="380843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062311" y="8487580"/>
            <a:ext cx="4196989" cy="770720"/>
          </a:xfrm>
          <a:custGeom>
            <a:avLst/>
            <a:gdLst/>
            <a:ahLst/>
            <a:cxnLst/>
            <a:rect r="r" b="b" t="t" l="l"/>
            <a:pathLst>
              <a:path h="770720" w="4196989">
                <a:moveTo>
                  <a:pt x="0" y="0"/>
                </a:moveTo>
                <a:lnTo>
                  <a:pt x="4196989" y="0"/>
                </a:lnTo>
                <a:lnTo>
                  <a:pt x="4196989" y="770720"/>
                </a:lnTo>
                <a:lnTo>
                  <a:pt x="0" y="7707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18246">
            <a:off x="3423654" y="3579497"/>
            <a:ext cx="4333509" cy="3128006"/>
          </a:xfrm>
          <a:custGeom>
            <a:avLst/>
            <a:gdLst/>
            <a:ahLst/>
            <a:cxnLst/>
            <a:rect r="r" b="b" t="t" l="l"/>
            <a:pathLst>
              <a:path h="3128006" w="4333509">
                <a:moveTo>
                  <a:pt x="0" y="0"/>
                </a:moveTo>
                <a:lnTo>
                  <a:pt x="4333509" y="0"/>
                </a:lnTo>
                <a:lnTo>
                  <a:pt x="4333509" y="3128006"/>
                </a:lnTo>
                <a:lnTo>
                  <a:pt x="0" y="31280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DAG1tbliyDA</dc:identifier>
  <dcterms:modified xsi:type="dcterms:W3CDTF">2011-08-01T06:04:30Z</dcterms:modified>
  <cp:revision>1</cp:revision>
  <dc:title>Green and Beige Simple Project Presentation</dc:title>
</cp:coreProperties>
</file>